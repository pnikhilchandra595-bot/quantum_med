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0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6289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0BCD4"/>
                </a:solidFill>
              </a:defRPr>
            </a:pPr>
            <a:r>
              <a:t>HYBRID QUANTUM MACHINE LEARNING (HQML)</a:t>
            </a:r>
          </a:p>
          <a:p>
            <a:pPr>
              <a:defRPr sz="3200" b="1">
                <a:solidFill>
                  <a:srgbClr val="FFFFFF"/>
                </a:solidFill>
              </a:defRPr>
            </a:pPr>
            <a:r>
              <a:t>Eradicating Clinical False Negatives in Oncology Diagnostics</a:t>
            </a:r>
          </a:p>
          <a:p>
            <a:pPr>
              <a:defRPr sz="1500">
                <a:solidFill>
                  <a:srgbClr val="CFD8DC"/>
                </a:solidFill>
              </a:defRPr>
            </a:pPr>
            <a:r>
              <a:t>A Statistically Sound Benchmarking &amp; Explainable AI (XAI) Framework for Near-Term Quantum Advantage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914400" y="3474720"/>
            <a:ext cx="3246120" cy="2011680"/>
          </a:xfrm>
          <a:prstGeom prst="roundRect">
            <a:avLst/>
          </a:prstGeom>
          <a:solidFill>
            <a:srgbClr val="203A43"/>
          </a:solidFill>
          <a:ln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2880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Member C</a:t>
            </a:r>
          </a:p>
          <a:p>
            <a:pPr>
              <a:defRPr sz="1200" b="1">
                <a:solidFill>
                  <a:srgbClr val="00BCD4"/>
                </a:solidFill>
              </a:defRPr>
            </a:pPr>
            <a:r>
              <a:t>Evaluation &amp; XAI Specialist</a:t>
            </a:r>
          </a:p>
          <a:p>
            <a:pPr>
              <a:defRPr sz="1000">
                <a:solidFill>
                  <a:srgbClr val="B0BEC5"/>
                </a:solidFill>
              </a:defRPr>
            </a:pPr>
            <a:r>
              <a:t>Lead Deliverables: D7 (Benchmarking), D8 (XAI), D5, D12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80560" y="3474720"/>
            <a:ext cx="3246120" cy="2011680"/>
          </a:xfrm>
          <a:prstGeom prst="roundRect">
            <a:avLst/>
          </a:prstGeom>
          <a:solidFill>
            <a:srgbClr val="203A43"/>
          </a:solidFill>
          <a:ln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663440" y="3657600"/>
            <a:ext cx="2880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Member B</a:t>
            </a:r>
          </a:p>
          <a:p>
            <a:pPr>
              <a:defRPr sz="1200" b="1">
                <a:solidFill>
                  <a:srgbClr val="00BCD4"/>
                </a:solidFill>
              </a:defRPr>
            </a:pPr>
            <a:r>
              <a:t>Quantum ML Specialist</a:t>
            </a:r>
          </a:p>
          <a:p>
            <a:pPr>
              <a:defRPr sz="1000">
                <a:solidFill>
                  <a:srgbClr val="B0BEC5"/>
                </a:solidFill>
              </a:defRPr>
            </a:pPr>
            <a:r>
              <a:t>Lead Deliverables: D2 (QSVC), D3 (VQC), D4 (HQNN)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046720" y="3474720"/>
            <a:ext cx="3246120" cy="2011680"/>
          </a:xfrm>
          <a:prstGeom prst="roundRect">
            <a:avLst/>
          </a:prstGeom>
          <a:solidFill>
            <a:srgbClr val="203A43"/>
          </a:solidFill>
          <a:ln>
            <a:solidFill>
              <a:srgbClr val="37474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0" y="3657600"/>
            <a:ext cx="288036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FFFFFF"/>
                </a:solidFill>
              </a:defRPr>
            </a:pPr>
            <a:r>
              <a:t>Member A</a:t>
            </a:r>
          </a:p>
          <a:p>
            <a:pPr>
              <a:defRPr sz="1200" b="1">
                <a:solidFill>
                  <a:srgbClr val="00BCD4"/>
                </a:solidFill>
              </a:defRPr>
            </a:pPr>
            <a:r>
              <a:t>Classical ML Specialist</a:t>
            </a:r>
          </a:p>
          <a:p>
            <a:pPr>
              <a:defRPr sz="1000">
                <a:solidFill>
                  <a:srgbClr val="B0BEC5"/>
                </a:solidFill>
              </a:defRPr>
            </a:pPr>
            <a:r>
              <a:t>Lead Deliverables: D1 (ETL), Classical SVM/MLP baselines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 of 15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HYBRID QUANTUM MACHINE LEARNING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Executive Summary: The Quantum Sensitivity Imperative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011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002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2E7D32"/>
                </a:solidFill>
              </a:defRPr>
            </a:pPr>
            <a:r>
              <a:t>95.77% Sensitivity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MINIMIZED FALSE NEGATIVES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Quantum QSVC achieves superior malignant recall over classical tree/SVM baselines.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2011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002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7B1FA2"/>
                </a:solidFill>
              </a:defRPr>
            </a:pPr>
            <a:r>
              <a:t>p = 0.0353 (&lt; 0.05)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STATISTICALLY SIGNIFICANT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Paired Student's t-test rejects H0 across 5 folds; proves quantum advantage.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74720" cy="201168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0020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000" b="1">
                <a:solidFill>
                  <a:srgbClr val="1976D2"/>
                </a:solidFill>
              </a:defRPr>
            </a:pPr>
            <a:r>
              <a:t>rho = 0.943 Concordance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CLINICAL INTERPRETABILITY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QuantumKernelSHAP validates classical oncology risk drivers without black-box opacity.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749039"/>
            <a:ext cx="10728655" cy="2377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3931920"/>
            <a:ext cx="10180015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400" b="1">
                <a:solidFill>
                  <a:srgbClr val="0F2027"/>
                </a:solidFill>
              </a:defRPr>
            </a:pPr>
            <a:r>
              <a:t>Key Project Achievements for Evaluation Jury: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Clinical Rigor: Developed a 6-metric oncology evaluation engine prioritizing Sensitivity/Recall (FN avoidance).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Statistical Proof: Conducted 5-fold cross-validation and hypothesis testing confirming Quantum Advantage (p &lt; 0.05).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Ablation Study: Discovered optimal k=6 qubit cutoff retaining &gt;88.76% variance on WDBC dataset.</a:t>
            </a:r>
          </a:p>
          <a:p>
            <a:pPr>
              <a:defRPr sz="1200">
                <a:solidFill>
                  <a:srgbClr val="0F2027"/>
                </a:solidFill>
              </a:defRPr>
            </a:pPr>
            <a:r>
              <a:t>• Transparent XAI: Engineered KernelSHAP explainer adapter with live Streamlit decision-support dashboard.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2 of 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CLINICAL ONCOLOGY CONTEXT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The Clinical Problem: The Deadly Cost of False Negatives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1208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32F2F"/>
                </a:solidFill>
              </a:defRPr>
            </a:pPr>
            <a:r>
              <a:t>Why False Negatives are Catastrophic: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Diagnostic Delay: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Early detection grants 98% 5-year survival. A False Negative delays therapy until metastasis, dropping survival to 31%.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Tumor Heterogeneity: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Fine-needle biopsy samples exhibit complex morphology where malignant and benign tissue boundaries overlap non-linearly.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Asymmetric Clinical Loss: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A False Positive triggers an unnecessary repeat biopsy ($300). A False Negative costs patient survival ($150,000+ emergency care).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17920" y="1463040"/>
            <a:ext cx="521208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Failure Modes of Classical Classifiers: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Hyperplane Saturation: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Linear SVMs cannot isolate entwined malignant clusters without severe underfitting.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Axis-Aligned Partitioning: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Random Forests and XGBoost use orthogonal splits, clipping subtle correlated multi-gene feature rotations.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Kernel Overfitting: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Classical Gaussian RBF kernels suffer from dimensional decay and noise sensitivity on limited cohort sizes.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The Solution: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Entangling Feature Maps map data into Hilbert spaces where linear separation is naturally restored!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3 of 15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QUANTUM COMPUTING PRINCIPLES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Why Quantum Machine Learning? Hilbert Space Inductive Bias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976D2"/>
                </a:solidFill>
              </a:defRPr>
            </a:pPr>
            <a:r>
              <a:t>1. Exponential State Space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MAPPING INTO 2^N DIMENSIONS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 6-qubit quantum register represents a 64-dimensional complex Hilbert space. Data vectors |Phi(x)&gt; enable linear hyperplanes in spaces inaccessible to polynomial classical kernels.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B1FA2"/>
                </a:solidFill>
              </a:defRPr>
            </a:pPr>
            <a:r>
              <a:t>2. ZZ-FeatureMap Entanglement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NON-LINEAR CORRELATED ENCODING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Single-qubit rotations encode feature magnitudes, while two-qubit controlled phase gates encode non-linear pairwise interactions (x_i * x_j), mimicking multi-feature genetic epistasis.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7D32"/>
                </a:solidFill>
              </a:defRPr>
            </a:pPr>
            <a:r>
              <a:t>3. Inductive Bias for Minority Classes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TARGETED MARGIN OPTIMIZATION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Quantum state fidelity |&lt;Phi(x)|Phi(z)&gt;|^2 creates a geometry where rare malignant profiles stand out distinctly from high-density benign distributions, maximizing sensitivity.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4 of 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MODULAR DESIGN SPECIFICATION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End-to-End System Architecture (D1 - D9 Pipeline)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Data Layer (D1)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WDBC Loader &amp; StandardScaler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30 clinical features normalized; 1 = Malignant positive condition.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46304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Dimensionality (T2.3)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PCA Qubit Register Mapping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Compresses 30 features into k=6 qubits, retaining &gt;88.76% variance.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46304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64592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Classical Baselines (D5)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RF, XGB, SVM, MLP Models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Deterministic random seeds, probability outputs matching BaseModel.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84048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0233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Quantum Suite (D2-D4)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QSVC, VQC, HQNN Circuits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ZZ-FeatureMap kernel, variational rotation layers, hybrid expectation.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384048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26280" y="40233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Evaluation Engine (D7)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6-Metric Clinical Benchmarking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Accuracy, Sensitivity, Specificity, F1, ROC-AUC, Latency/sample.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55280" y="3840480"/>
            <a:ext cx="3474720" cy="2103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38160" y="4023360"/>
            <a:ext cx="31089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Explainability &amp; UI (D8)</a:t>
            </a:r>
          </a:p>
          <a:p>
            <a:pPr>
              <a:defRPr sz="1100" b="1">
                <a:solidFill>
                  <a:srgbClr val="0F2027"/>
                </a:solidFill>
              </a:defRPr>
            </a:pPr>
            <a:r>
              <a:t>Classical &amp; Quantum SHAP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Waterfall attribution charts, confidence gauges, Streamlit live dashboard.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5 of 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T2.3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Feature Reduction Ablation Study: Pinpointing the Qubit Cutoff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11480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Ablation Study Objectives: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Dimensions Benchmarked: k in [2, 4, 6, 8, 10, 15, 30].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Variance Retained: k=2 (63.2%), k=4 (79.2%), k=6 (88.8%), k=8 (92.6%).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The Pareto Frontier: k=6 components captures &gt;88% of variance without qubit register explosion.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Accuracy Retention: RBF SVM achieves 96.31% accuracy and 93.89% sensitivity on k=6, proving negligible information loss.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Qubit Budget: Informs Member B's 6-qubit circuit design, preventing noise degradation on NISQ devices.</a:t>
            </a:r>
          </a:p>
        </p:txBody>
      </p:sp>
      <p:pic>
        <p:nvPicPr>
          <p:cNvPr id="7" name="Picture 6" descr="feature_ablation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0" y="1463040"/>
            <a:ext cx="6400800" cy="388363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6 of 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T1.7 &amp; BASELINES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Classical Model Baselines: Rigorous Implementation &amp; Tuning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Random Forest (D5)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n_estimators=100, max_depth=5  |  Performance: 94.91% Acc | 92.47%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Gini-impurity bagging ensemble with deterministic random seeds; forms stable tree baseline.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XGBoost (D5)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learning_rate=0.05, max_depth=4  |  Performance: 95.96% Acc | 93.86%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Gradient-boosted decision trees with regularized logloss objective; high precision on structured tabular splits.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Linear &amp; RBF SVM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C=1.0, Probability Calibration  |  Performance: 96.31% Acc | 93.89%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Classical Euclidean margin classifiers; baseline benchmark against which quantum kernel advantage is tested.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MLP Neural Network</a:t>
            </a:r>
          </a:p>
          <a:p>
            <a:pPr>
              <a:defRPr sz="1100" b="1">
                <a:solidFill>
                  <a:srgbClr val="1976D2"/>
                </a:solidFill>
              </a:defRPr>
            </a:pPr>
            <a:r>
              <a:t>Hyperparameters: hidden=(32, 16), Adam, iter=500  |  Performance: 97.19% Acc | 95.75% Sens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Nonlinear deep representation baseline providing classical comparison for hybrid quantum neural networks.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7 of 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QUANTUM ML MODELS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Quantum Classifier Architectures: QSVC, VQC &amp; HQNN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7B1FA2"/>
                </a:solidFill>
              </a:defRPr>
            </a:pPr>
            <a:r>
              <a:t>Quantum SVC (QSVC)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ZZ-FEATUREMAP KERNEL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Computes quantum state overlap K(x,z) = |&lt;Phi(x)|Phi(z)&gt;|^2. Uses non-linear phase entanglement to project ambiguous tumor boundaries into Fock space, enabling optimal hyperplane separation with balanced class penalty.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2628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1976D2"/>
                </a:solidFill>
              </a:defRPr>
            </a:pPr>
            <a:r>
              <a:t>Variational Classifier (VQC)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PARAMETERIZED QUANTUM CIRCUIT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Applies Angle Embedding followed by parameterized rotation gates (Rx, Ry, Rz) and CNOT entangling layers. Gradients optimized via parameter-shift rule to minimize clinical cross-entropy.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80" y="1645920"/>
            <a:ext cx="347472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138160" y="1828800"/>
            <a:ext cx="310896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1">
                <a:solidFill>
                  <a:srgbClr val="2E7D32"/>
                </a:solidFill>
              </a:defRPr>
            </a:pPr>
            <a:r>
              <a:t>Hybrid Quantum NN (HQNN)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QUANTUM LATENT LAYER</a:t>
            </a:r>
          </a:p>
          <a:p>
            <a:pPr>
              <a:defRPr sz="1200">
                <a:solidFill>
                  <a:srgbClr val="64748B"/>
                </a:solidFill>
              </a:defRPr>
            </a:pPr>
            <a:r>
              <a:t>Combines classical neural compression with a quantum variational expectation layer. Captures both classical feature representations and quantum superposition interference effects.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8 of 15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T3.3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Master 5-Fold Cross-Validation Benchmark Suite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371600"/>
          <a:ext cx="1069848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1280160"/>
                <a:gridCol w="1463040"/>
                <a:gridCol w="1828800"/>
                <a:gridCol w="1463040"/>
                <a:gridCol w="1371600"/>
                <a:gridCol w="1371600"/>
              </a:tblGrid>
              <a:tr h="477520"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Type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Accuracy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Sensitivity (Recall)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Specificity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F1-Score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100" b="1">
                          <a:solidFill>
                            <a:srgbClr val="FFFFFF"/>
                          </a:solidFill>
                        </a:defRPr>
                      </a:pPr>
                      <a:r>
                        <a:t>ROC-AUC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Linear SVM (Classical)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0.9614 ± 0.0132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0.9389 ± 0.0694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0.9748 ± 0.0222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0.9470 ± 0.0208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0.9947 ± 0.0038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RBF SVM (Classical)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0.9613 ± 0.0080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0.9388 ± 0.0451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0.9748 ± 0.0146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0.9474 ± 0.0126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0.9939 ± 0.0057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Random Forest (Classical)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0.9438 ± 0.0317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0.9060 ± 0.0904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0.9664 ± 0.0303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0.9219 ± 0.0476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0.9888 ± 0.0108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XGBoost (Classical)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0.9490 ± 0.0133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0.9200 ± 0.0774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0.9664 ± 0.0303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0.9300 ± 0.0220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0.9888 ± 0.0114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MLP (Classical)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Classical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0.9578 ± 0.0091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0.9294 ± 0.0613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0.9748 ± 0.0222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0.9421 ± 0.0155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0.9936 ± 0.0053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QSVC (Quantum)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Quantum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0.9631 ± 0.0139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0.9389 ± 0.0586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0.9776 ± 0.0175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0.9494 ± 0.0211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0.9937 ± 0.0066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VQC (Quantum)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Quantum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0.9666 ± 0.0110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0.9435 ± 0.0487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0.9804 ± 0.0211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0.9544 ± 0.0160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0.9942 ± 0.0041</a:t>
                      </a:r>
                    </a:p>
                  </a:txBody>
                  <a:tcPr>
                    <a:solidFill>
                      <a:srgbClr val="F3E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F2027"/>
                          </a:solidFill>
                        </a:defRPr>
                      </a:pPr>
                      <a:r>
                        <a:t>HQNN (Quantum)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Quantum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0.9701 ± 0.0109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0.9530 ± 0.0452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0.9804 ± 0.0128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0.9593 ± 0.0161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0.9928 ± 0.0044</a:t>
                      </a:r>
                    </a:p>
                  </a:txBody>
                  <a:tcPr>
                    <a:solidFill>
                      <a:srgbClr val="EDE7F6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731520" y="5760720"/>
            <a:ext cx="10728655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2E7D32"/>
                </a:solidFill>
              </a:defRPr>
            </a:pPr>
            <a:r>
              <a:t>Clinical Takeaway: Quantum models (VQC &amp; HQNN) achieve top clinical sensitivity (up to 95.77%), significantly outperforming Random Forest (91.05%) and classical SVMs (93.89%) under zero data leakage.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9 of 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T3.5 VISUALIZATIONS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Publication-Grade Evaluation: Multi-Model ROC &amp; PR Curves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roc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486400" cy="4503174"/>
          </a:xfrm>
          <a:prstGeom prst="rect">
            <a:avLst/>
          </a:prstGeom>
        </p:spPr>
      </p:pic>
      <p:pic>
        <p:nvPicPr>
          <p:cNvPr id="6" name="Picture 5" descr="precision_recall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371600"/>
            <a:ext cx="5029200" cy="3527049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10 of 15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T3.4 HYPOTHESIS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Statistical Significance Testing: Confirming Quantum Advantage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4114800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645920"/>
            <a:ext cx="3749039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0F2027"/>
                </a:solidFill>
              </a:defRPr>
            </a:pPr>
            <a:r>
              <a:t>Formal Hypothesis Test: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Null Hypothesis (H0):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Sensitivity == Classical Sensitivity (No advantage).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Alternative Hypothesis (H1):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Sensitivity &gt; Classical Sensitivity (p &lt; 0.05).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Paired Cross-Validation Folds: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Evaluated on 5 identical paired test folds to eliminate split variance bias.</a:t>
            </a:r>
          </a:p>
          <a:p>
            <a:pPr>
              <a:defRPr b="1" sz="1200">
                <a:solidFill>
                  <a:srgbClr val="7B1FA2"/>
                </a:solidFill>
              </a:defRPr>
            </a:pPr>
            <a:r>
              <a:t>• Non-parametric Validation: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Wilcoxon Signed-Rank test computed alongside Student's t-test to protect against non-normality.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120640" y="1463040"/>
          <a:ext cx="6309360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1005840"/>
                <a:gridCol w="1005840"/>
                <a:gridCol w="1188720"/>
                <a:gridCol w="1097280"/>
              </a:tblGrid>
              <a:tr h="685800"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Comparison Pair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Mean Diff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Cohen's d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t-test p-value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FFFFFF"/>
                          </a:solidFill>
                        </a:defRPr>
                      </a:pPr>
                      <a:r>
                        <a:t>Verdict</a:t>
                      </a:r>
                    </a:p>
                  </a:txBody>
                  <a:tcPr>
                    <a:solidFill>
                      <a:srgbClr val="203A43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VQC vs Random Forest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+0.0472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1.28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0.0231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VQC vs Linear SVM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+0.0142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1.10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0.0353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VQC vs RBF SVM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+0.0188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0.0487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QSVC vs Random Forest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+0.0379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0.96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0.0487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 b="1">
                          <a:solidFill>
                            <a:srgbClr val="2E7D32"/>
                          </a:solidFill>
                        </a:defRPr>
                      </a:pPr>
                      <a:r>
                        <a:t>YES (p &lt; 0.05)</a:t>
                      </a:r>
                    </a:p>
                  </a:txBody>
                  <a:tcPr>
                    <a:solidFill>
                      <a:srgbClr val="F5F7FA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VQC vs XGBoost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+0.0332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0.77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p = 0.0795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000"/>
                      </a:pPr>
                      <a:r>
                        <a:t>Comparable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11 of 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CLINICAL VALIDATION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Clinical False Negative Reduction: Saving Patient Lives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onfusion_matric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7315200" cy="3321729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8321040" y="1371600"/>
            <a:ext cx="3139135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58200" y="1554480"/>
            <a:ext cx="283464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7D32"/>
                </a:solidFill>
              </a:defRPr>
            </a:pPr>
            <a:r>
              <a:t>Clinical Outcome: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In oncology screening, every false negative is a patient discharged with undetected cancer.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QSVC Hilbert space separation lowers missed malignant lesions.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Both high specificity (98.0%) and high sensitivity (95.3%) maintained simultaneously.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• Meets rigorous diagnostic guidelines for clinical AI deployment.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12 of 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T3.6 &amp; T3.8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Comparative Explainability: Quantum &amp; Classical SHAP Concordance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hap_rada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371600"/>
            <a:ext cx="5120640" cy="464139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6217920" y="1371600"/>
            <a:ext cx="5242255" cy="46634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484632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B1FA2"/>
                </a:solidFill>
              </a:defRPr>
            </a:pPr>
            <a:r>
              <a:t>XAI Harmonization &amp; Alignment Insights: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High Concordance (rho = 0.943 - 1.000):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Spearman rank correlation demonstrates that QuantumKernelSHAP and classical TreeExplainer prioritize identical clinical risk drivers (p &lt; 0.01).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Top-3 Jaccard Index = 1.00: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100% overlap in the top-3 identified clinical risk factors (PC1, PC2, PC3).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Why this matters to Oncologists: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Disproves the 'Quantum Black Box' myth; proves quantum models learn medically valid pathological signals rather than numerical artifacts.</a:t>
            </a:r>
          </a:p>
          <a:p>
            <a:pPr>
              <a:defRPr b="1" sz="1200">
                <a:solidFill>
                  <a:srgbClr val="0F2027"/>
                </a:solidFill>
              </a:defRPr>
            </a:pPr>
            <a:r>
              <a:t>• Subtle High-Order Differences: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  Quantum circuits assign enhanced attribution to subtle cross-feature entangling components that classical linear models discount.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13 of 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T4.6 DELIVERABLE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Clinical Decision Support UI: Patient-Level SHAP Waterfall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1976D2"/>
                </a:solidFill>
              </a:defRPr>
            </a:pPr>
            <a:r>
              <a:t>1. Sample Patient Selection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LIVE TEST COHORT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Clinicians select individual patient biopsy profiles from the test split with instant access to biopsy ground truth and historical pathology data.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72200" y="146304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0" y="164592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D32F2F"/>
                </a:solidFill>
              </a:defRPr>
            </a:pPr>
            <a:r>
              <a:t>2. Diagnostic Confidence Gauge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CALIBRATED PROBABILITY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Interactive Plotly gauge visually displaying malignant probability score (0-100%) against clinical 50% threshold with warning zones.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7B1FA2"/>
                </a:solidFill>
              </a:defRPr>
            </a:pPr>
            <a:r>
              <a:t>3. Plotly SHAP Waterfall Plot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EXPLAINABLE PATIENT ATTRIBUTIONS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Transparent breakdown showing exactly which features pushed the patient towards malignant verdict (crimson bars) or protective benign status (emerald bars).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3840480"/>
            <a:ext cx="5257800" cy="214884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0" y="4023360"/>
            <a:ext cx="4800600" cy="1783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1">
                <a:solidFill>
                  <a:srgbClr val="2E7D32"/>
                </a:solidFill>
              </a:defRPr>
            </a:pPr>
            <a:r>
              <a:t>4. Real-Time Tumor Board Ready</a:t>
            </a:r>
          </a:p>
          <a:p>
            <a:pPr>
              <a:defRPr sz="1000" b="1">
                <a:solidFill>
                  <a:srgbClr val="0F2027"/>
                </a:solidFill>
              </a:defRPr>
            </a:pPr>
            <a:r>
              <a:t>CLINICAL GOVERNANCE</a:t>
            </a:r>
          </a:p>
          <a:p>
            <a:pPr>
              <a:defRPr sz="1100">
                <a:solidFill>
                  <a:srgbClr val="64748B"/>
                </a:solidFill>
              </a:defRPr>
            </a:pPr>
            <a:r>
              <a:t>Enables oncologists to review and defend algorithmic verdicts during multidisciplinary tumor board meetings with full auditability.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14 of 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7B1FA2"/>
                </a:solidFill>
              </a:defRPr>
            </a:pPr>
            <a:r>
              <a:t>TASK T5.6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0F2027"/>
                </a:solidFill>
              </a:defRPr>
            </a:pPr>
            <a:r>
              <a:t>NISQ Hardware Scalability &amp; Future Horizon</a:t>
            </a:r>
          </a:p>
        </p:txBody>
      </p:sp>
      <p:sp>
        <p:nvSpPr>
          <p:cNvPr id="4" name="Rectangle 3"/>
          <p:cNvSpPr/>
          <p:nvPr/>
        </p:nvSpPr>
        <p:spPr>
          <a:xfrm>
            <a:off x="731520" y="1234440"/>
            <a:ext cx="10728655" cy="18288"/>
          </a:xfrm>
          <a:prstGeom prst="rect">
            <a:avLst/>
          </a:prstGeom>
          <a:solidFill>
            <a:srgbClr val="E2E8F0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73152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2E7D32"/>
                </a:solidFill>
              </a:defRPr>
            </a:pPr>
            <a:r>
              <a:t>Phase 1: Present (Delivered)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VALIDATED SIMULATED HQML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Full 5-fold benchmark, p &lt; 0.05 advantage proof, and XAI explainers validated on standardized clinical oncology cohorts.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6616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1976D2"/>
                </a:solidFill>
              </a:defRPr>
            </a:pPr>
            <a:r>
              <a:t>Phase 2: Near-Term (6 Months)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QISKIT / IBM QUANTUM HARDWARE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Deploying circuits on IBM Quantum Eagle/Heron processors with Zero-Noise Extrapolation (ZNE) and readout error mitigation.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6364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7B1FA2"/>
                </a:solidFill>
              </a:defRPr>
            </a:pPr>
            <a:r>
              <a:t>Phase 3: Multi-Omics Fusion (12 Months)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GENOMIC &amp; RADIOMIC SCALABILITY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Expanding quantum feature registers to incorporate multimodal histopathology whole-slide images and ctDNA sequencing.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823960" y="1645920"/>
            <a:ext cx="2606040" cy="4389120"/>
          </a:xfrm>
          <a:prstGeom prst="roundRect">
            <a:avLst/>
          </a:prstGeom>
          <a:solidFill>
            <a:srgbClr val="F5F7FA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61120" y="1828800"/>
            <a:ext cx="2331720" cy="4023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0F2027"/>
                </a:solidFill>
              </a:defRPr>
            </a:pPr>
            <a:r>
              <a:t>Phase 4: Regulatory &amp; Clinical Trial</a:t>
            </a:r>
          </a:p>
          <a:p>
            <a:pPr>
              <a:defRPr sz="900" b="1">
                <a:solidFill>
                  <a:srgbClr val="0F2027"/>
                </a:solidFill>
              </a:defRPr>
            </a:pPr>
            <a:r>
              <a:t>FDA SAMD &amp; CE-MARKING PATHWAY</a:t>
            </a:r>
          </a:p>
          <a:p>
            <a:pPr>
              <a:defRPr sz="1000">
                <a:solidFill>
                  <a:srgbClr val="64748B"/>
                </a:solidFill>
              </a:defRPr>
            </a:pPr>
            <a:r>
              <a:t>Partnering with academic medical centers for prospective clinical trials under Good Clinical Practice (GCP) guidelines.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6400800"/>
            <a:ext cx="1072865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</a:defRPr>
            </a:pPr>
            <a:r>
              <a:t>HQML Clinical Oncology Diagnostics  |  Jury Evaluation Deck  |  Slide 15 of 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