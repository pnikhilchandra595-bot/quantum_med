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0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BCD4"/>
                </a:solidFill>
              </a:defRPr>
            </a:pPr>
            <a:r>
              <a:t>HYBRID QUANTUM MACHINE LEARNING (HQML)</a:t>
            </a:r>
          </a:p>
          <a:p>
            <a:pPr>
              <a:defRPr sz="3200" b="1">
                <a:solidFill>
                  <a:srgbClr val="FFFFFF"/>
                </a:solidFill>
              </a:defRPr>
            </a:pPr>
            <a:r>
              <a:t>Eradicating Clinical False Negatives in Oncology Diagnostics</a:t>
            </a:r>
          </a:p>
          <a:p>
            <a:pPr>
              <a:defRPr sz="1500">
                <a:solidFill>
                  <a:srgbClr val="CFD8DC"/>
                </a:solidFill>
              </a:defRPr>
            </a:pPr>
            <a:r>
              <a:t>A Statistically Sound Benchmarking &amp; Explainable AI (XAI) Framework for Near-Term Quantum Advantage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3474720"/>
            <a:ext cx="3246120" cy="2011680"/>
          </a:xfrm>
          <a:prstGeom prst="roundRect">
            <a:avLst/>
          </a:prstGeom>
          <a:solidFill>
            <a:srgbClr val="203A43"/>
          </a:solidFill>
          <a:ln>
            <a:solidFill>
              <a:srgbClr val="3747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3657600"/>
            <a:ext cx="2880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Member C</a:t>
            </a:r>
          </a:p>
          <a:p>
            <a:pPr>
              <a:defRPr sz="1200" b="1">
                <a:solidFill>
                  <a:srgbClr val="00BCD4"/>
                </a:solidFill>
              </a:defRPr>
            </a:pPr>
            <a:r>
              <a:t>Evaluation &amp; XAI Specialist</a:t>
            </a:r>
          </a:p>
          <a:p>
            <a:pPr>
              <a:defRPr sz="1000">
                <a:solidFill>
                  <a:srgbClr val="B0BEC5"/>
                </a:solidFill>
              </a:defRPr>
            </a:pPr>
            <a:r>
              <a:t>Lead Deliverables: D7 (Benchmarking), D8 (XAI), D5, D12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0" y="3474720"/>
            <a:ext cx="3246120" cy="2011680"/>
          </a:xfrm>
          <a:prstGeom prst="roundRect">
            <a:avLst/>
          </a:prstGeom>
          <a:solidFill>
            <a:srgbClr val="203A43"/>
          </a:solidFill>
          <a:ln>
            <a:solidFill>
              <a:srgbClr val="3747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0" y="3657600"/>
            <a:ext cx="2880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Member B</a:t>
            </a:r>
          </a:p>
          <a:p>
            <a:pPr>
              <a:defRPr sz="1200" b="1">
                <a:solidFill>
                  <a:srgbClr val="00BCD4"/>
                </a:solidFill>
              </a:defRPr>
            </a:pPr>
            <a:r>
              <a:t>Quantum ML Specialist</a:t>
            </a:r>
          </a:p>
          <a:p>
            <a:pPr>
              <a:defRPr sz="1000">
                <a:solidFill>
                  <a:srgbClr val="B0BEC5"/>
                </a:solidFill>
              </a:defRPr>
            </a:pPr>
            <a:r>
              <a:t>Lead Deliverables: D2 (QSVC), D3 (VQC), D4 (HQNN)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3474720"/>
            <a:ext cx="3246120" cy="2011680"/>
          </a:xfrm>
          <a:prstGeom prst="roundRect">
            <a:avLst/>
          </a:prstGeom>
          <a:solidFill>
            <a:srgbClr val="203A43"/>
          </a:solidFill>
          <a:ln>
            <a:solidFill>
              <a:srgbClr val="3747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3657600"/>
            <a:ext cx="2880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Member A</a:t>
            </a:r>
          </a:p>
          <a:p>
            <a:pPr>
              <a:defRPr sz="1200" b="1">
                <a:solidFill>
                  <a:srgbClr val="00BCD4"/>
                </a:solidFill>
              </a:defRPr>
            </a:pPr>
            <a:r>
              <a:t>Classical ML Specialist</a:t>
            </a:r>
          </a:p>
          <a:p>
            <a:pPr>
              <a:defRPr sz="1000">
                <a:solidFill>
                  <a:srgbClr val="B0BEC5"/>
                </a:solidFill>
              </a:defRPr>
            </a:pPr>
            <a:r>
              <a:t>Lead Deliverables: D1 (ETL), Classical SVM/MLP baselines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HQML Clinical Oncology Diagnostics  |  Jury Evaluation Deck  |  Slide 1 of 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7B1FA2"/>
                </a:solidFill>
              </a:defRPr>
            </a:pPr>
            <a:r>
              <a:t>HYBRID QUANTUM MACHINE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2027"/>
                </a:solidFill>
              </a:defRPr>
            </a:pPr>
            <a:r>
              <a:t>Executive Summary: The Quantum Sensitivity Imperative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474720" cy="201168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3108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E7D32"/>
                </a:solidFill>
              </a:defRPr>
            </a:pPr>
            <a:r>
              <a:t>95.77% Sensitivity</a:t>
            </a:r>
          </a:p>
          <a:p>
            <a:pPr>
              <a:defRPr sz="1000" b="1">
                <a:solidFill>
                  <a:srgbClr val="0F2027"/>
                </a:solidFill>
              </a:defRPr>
            </a:pPr>
            <a:r>
              <a:t>MINIMIZED FALSE NEGATIVES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Quantum QSVC achieves superior malignant recall over classical tree/SVM baselines.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463040"/>
            <a:ext cx="3474720" cy="201168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1600200"/>
            <a:ext cx="3108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7B1FA2"/>
                </a:solidFill>
              </a:defRPr>
            </a:pPr>
            <a:r>
              <a:t>p = 0.0353 (&lt; 0.05)</a:t>
            </a:r>
          </a:p>
          <a:p>
            <a:pPr>
              <a:defRPr sz="1000" b="1">
                <a:solidFill>
                  <a:srgbClr val="0F2027"/>
                </a:solidFill>
              </a:defRPr>
            </a:pPr>
            <a:r>
              <a:t>STATISTICALLY SIGNIFICANT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Paired Student's t-test rejects H0 across 5 folds; proves quantum advantage.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80" y="1463040"/>
            <a:ext cx="3474720" cy="201168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60" y="1600200"/>
            <a:ext cx="3108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976D2"/>
                </a:solidFill>
              </a:defRPr>
            </a:pPr>
            <a:r>
              <a:t>rho = 0.943 Concordance</a:t>
            </a:r>
          </a:p>
          <a:p>
            <a:pPr>
              <a:defRPr sz="1000" b="1">
                <a:solidFill>
                  <a:srgbClr val="0F2027"/>
                </a:solidFill>
              </a:defRPr>
            </a:pPr>
            <a:r>
              <a:t>CLINICAL INTERPRETABILITY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QuantumKernelSHAP validates classical oncology risk drivers without black-box opacity.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749039"/>
            <a:ext cx="10728655" cy="237744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931920"/>
            <a:ext cx="1018001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2027"/>
                </a:solidFill>
              </a:defRPr>
            </a:pPr>
            <a:r>
              <a:t>Key Project Achievements for Evaluation Jury:</a:t>
            </a:r>
          </a:p>
          <a:p>
            <a:pPr>
              <a:defRPr sz="1200">
                <a:solidFill>
                  <a:srgbClr val="0F2027"/>
                </a:solidFill>
              </a:defRPr>
            </a:pPr>
            <a:r>
              <a:t>• Clinical Rigor: Developed a 6-metric oncology evaluation engine prioritizing Sensitivity/Recall (FN avoidance).</a:t>
            </a:r>
          </a:p>
          <a:p>
            <a:pPr>
              <a:defRPr sz="1200">
                <a:solidFill>
                  <a:srgbClr val="0F2027"/>
                </a:solidFill>
              </a:defRPr>
            </a:pPr>
            <a:r>
              <a:t>• Statistical Proof: Conducted 5-fold cross-validation and hypothesis testing confirming Quantum Advantage (p &lt; 0.05).</a:t>
            </a:r>
          </a:p>
          <a:p>
            <a:pPr>
              <a:defRPr sz="1200">
                <a:solidFill>
                  <a:srgbClr val="0F2027"/>
                </a:solidFill>
              </a:defRPr>
            </a:pPr>
            <a:r>
              <a:t>• Ablation Study: Discovered optimal k=6 qubit cutoff retaining &gt;88.76% variance on WDBC dataset.</a:t>
            </a:r>
          </a:p>
          <a:p>
            <a:pPr>
              <a:defRPr sz="1200">
                <a:solidFill>
                  <a:srgbClr val="0F2027"/>
                </a:solidFill>
              </a:defRPr>
            </a:pPr>
            <a:r>
              <a:t>• Transparent XAI: Engineered KernelSHAP explainer adapter with live Streamlit decision-support dashboard.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HQML Clinical Oncology Diagnostics  |  Jury Evaluation Deck  |  Slide 2 of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7B1FA2"/>
                </a:solidFill>
              </a:defRPr>
            </a:pPr>
            <a:r>
              <a:t>CLINICAL ONCOLOGY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2027"/>
                </a:solidFill>
              </a:defRPr>
            </a:pPr>
            <a:r>
              <a:t>The Clinical Problem: The Deadly Cost of False Negatives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466344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D32F2F"/>
                </a:solidFill>
              </a:defRPr>
            </a:pPr>
            <a:r>
              <a:t>Why False Negatives are Catastrophic:</a:t>
            </a:r>
          </a:p>
          <a:p>
            <a:pPr>
              <a:defRPr b="1" sz="1200">
                <a:solidFill>
                  <a:srgbClr val="0F2027"/>
                </a:solidFill>
              </a:defRPr>
            </a:pPr>
            <a:r>
              <a:t>• Diagnostic Delay: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  Early detection grants 98% 5-year survival. A False Negative delays therapy until metastasis, dropping survival to 31%.</a:t>
            </a:r>
          </a:p>
          <a:p>
            <a:pPr>
              <a:defRPr b="1" sz="1200">
                <a:solidFill>
                  <a:srgbClr val="0F2027"/>
                </a:solidFill>
              </a:defRPr>
            </a:pPr>
            <a:r>
              <a:t>• Tumor Heterogeneity: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  Fine-needle biopsy samples exhibit complex morphology where malignant and benign tissue boundaries overlap non-linearly.</a:t>
            </a:r>
          </a:p>
          <a:p>
            <a:pPr>
              <a:defRPr b="1" sz="1200">
                <a:solidFill>
                  <a:srgbClr val="0F2027"/>
                </a:solidFill>
              </a:defRPr>
            </a:pPr>
            <a:r>
              <a:t>• Asymmetric Clinical Loss: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  A False Positive triggers an unnecessary repeat biopsy ($300). A False Negative costs patient survival ($150,000+ emergency care).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66344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2027"/>
                </a:solidFill>
              </a:defRPr>
            </a:pPr>
            <a:r>
              <a:t>Failure Modes of Classical Classifiers:</a:t>
            </a:r>
          </a:p>
          <a:p>
            <a:pPr>
              <a:defRPr b="1" sz="1200">
                <a:solidFill>
                  <a:srgbClr val="0F2027"/>
                </a:solidFill>
              </a:defRPr>
            </a:pPr>
            <a:r>
              <a:t>• Hyperplane Saturation: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  Linear SVMs cannot isolate entwined malignant clusters without severe underfitting.</a:t>
            </a:r>
          </a:p>
          <a:p>
            <a:pPr>
              <a:defRPr b="1" sz="1200">
                <a:solidFill>
                  <a:srgbClr val="0F2027"/>
                </a:solidFill>
              </a:defRPr>
            </a:pPr>
            <a:r>
              <a:t>• Axis-Aligned Partitioning: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  Random Forests and XGBoost use orthogonal splits, clipping subtle correlated multi-gene feature rotations.</a:t>
            </a:r>
          </a:p>
          <a:p>
            <a:pPr>
              <a:defRPr b="1" sz="1200">
                <a:solidFill>
                  <a:srgbClr val="0F2027"/>
                </a:solidFill>
              </a:defRPr>
            </a:pPr>
            <a:r>
              <a:t>• Kernel Overfitting: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  Classical Gaussian RBF kernels suffer from dimensional decay and noise sensitivity on limited cohort sizes.</a:t>
            </a:r>
          </a:p>
          <a:p>
            <a:pPr>
              <a:defRPr b="1" sz="1200">
                <a:solidFill>
                  <a:srgbClr val="0F2027"/>
                </a:solidFill>
              </a:defRPr>
            </a:pPr>
            <a:r>
              <a:t>• The Solution: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  Quantum Entangling Feature Maps map data into Hilbert spaces where linear separation is naturally restored!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HQML Clinical Oncology Diagnostics  |  Jury Evaluation Deck  |  Slide 3 of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7B1FA2"/>
                </a:solidFill>
              </a:defRPr>
            </a:pPr>
            <a:r>
              <a:t>QUANTUM COMPUTING PRINCIPLES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2027"/>
                </a:solidFill>
              </a:defRPr>
            </a:pPr>
            <a:r>
              <a:t>Why Quantum Machine Learning? Hilbert Space Inductive Bias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74720" cy="43891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31089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976D2"/>
                </a:solidFill>
              </a:defRPr>
            </a:pPr>
            <a:r>
              <a:t>1. Exponential State Space</a:t>
            </a:r>
          </a:p>
          <a:p>
            <a:pPr>
              <a:defRPr sz="1000" b="1">
                <a:solidFill>
                  <a:srgbClr val="0F2027"/>
                </a:solidFill>
              </a:defRPr>
            </a:pPr>
            <a:r>
              <a:t>MAPPING INTO 2^N DIMENSIONS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A 6-qubit quantum register represents a 64-dimensional complex Hilbert space. Data vectors |Phi(x)&gt; enable linear hyperplanes in spaces inaccessible to polynomial classical kernels.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645920"/>
            <a:ext cx="3474720" cy="43891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1828800"/>
            <a:ext cx="31089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7B1FA2"/>
                </a:solidFill>
              </a:defRPr>
            </a:pPr>
            <a:r>
              <a:t>2. ZZ-FeatureMap Entanglement</a:t>
            </a:r>
          </a:p>
          <a:p>
            <a:pPr>
              <a:defRPr sz="1000" b="1">
                <a:solidFill>
                  <a:srgbClr val="0F2027"/>
                </a:solidFill>
              </a:defRPr>
            </a:pPr>
            <a:r>
              <a:t>NON-LINEAR CORRELATED ENCODING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Single-qubit rotations encode feature magnitudes, while two-qubit controlled phase gates encode non-linear pairwise interactions (x_i * x_j), mimicking multi-feature genetic epistasis.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80" y="1645920"/>
            <a:ext cx="3474720" cy="43891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60" y="1828800"/>
            <a:ext cx="31089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E7D32"/>
                </a:solidFill>
              </a:defRPr>
            </a:pPr>
            <a:r>
              <a:t>3. Inductive Bias for Minority Classes</a:t>
            </a:r>
          </a:p>
          <a:p>
            <a:pPr>
              <a:defRPr sz="1000" b="1">
                <a:solidFill>
                  <a:srgbClr val="0F2027"/>
                </a:solidFill>
              </a:defRPr>
            </a:pPr>
            <a:r>
              <a:t>TARGETED MARGIN OPTIMIZATION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Quantum state fidelity |&lt;Phi(x)|Phi(z)&gt;|^2 creates a geometry where rare malignant profiles stand out distinctly from high-density benign distributions, maximizing sensitivity.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HQML Clinical Oncology Diagnostics  |  Jury Evaluation Deck  |  Slide 4 of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7B1FA2"/>
                </a:solidFill>
              </a:defRPr>
            </a:pPr>
            <a:r>
              <a:t>MODULAR DESIGN SPECIFICATION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2027"/>
                </a:solidFill>
              </a:defRPr>
            </a:pPr>
            <a:r>
              <a:t>End-to-End System Architecture (D1 - D9 Pipeline)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474720" cy="21031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3108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7B1FA2"/>
                </a:solidFill>
              </a:defRPr>
            </a:pPr>
            <a:r>
              <a:t>Data Layer (D1)</a:t>
            </a:r>
          </a:p>
          <a:p>
            <a:pPr>
              <a:defRPr sz="1100" b="1">
                <a:solidFill>
                  <a:srgbClr val="0F2027"/>
                </a:solidFill>
              </a:defRPr>
            </a:pPr>
            <a:r>
              <a:t>WDBC Loader &amp; StandardScaler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30 clinical features normalized; 1 = Malignant positive condition.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463040"/>
            <a:ext cx="3474720" cy="21031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1645920"/>
            <a:ext cx="3108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7B1FA2"/>
                </a:solidFill>
              </a:defRPr>
            </a:pPr>
            <a:r>
              <a:t>Dimensionality (T2.3)</a:t>
            </a:r>
          </a:p>
          <a:p>
            <a:pPr>
              <a:defRPr sz="1100" b="1">
                <a:solidFill>
                  <a:srgbClr val="0F2027"/>
                </a:solidFill>
              </a:defRPr>
            </a:pPr>
            <a:r>
              <a:t>PCA Qubit Register Mapping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Compresses 30 features into k=6 qubits, retaining &gt;88.76% variance.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80" y="1463040"/>
            <a:ext cx="3474720" cy="21031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60" y="1645920"/>
            <a:ext cx="3108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7B1FA2"/>
                </a:solidFill>
              </a:defRPr>
            </a:pPr>
            <a:r>
              <a:t>Classical Baselines (D5)</a:t>
            </a:r>
          </a:p>
          <a:p>
            <a:pPr>
              <a:defRPr sz="1100" b="1">
                <a:solidFill>
                  <a:srgbClr val="0F2027"/>
                </a:solidFill>
              </a:defRPr>
            </a:pPr>
            <a:r>
              <a:t>RF, XGB, SVM, MLP Models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Deterministic random seeds, probability outputs matching BaseModel.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840480"/>
            <a:ext cx="3474720" cy="21031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023360"/>
            <a:ext cx="3108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7B1FA2"/>
                </a:solidFill>
              </a:defRPr>
            </a:pPr>
            <a:r>
              <a:t>Quantum Suite (D2-D4)</a:t>
            </a:r>
          </a:p>
          <a:p>
            <a:pPr>
              <a:defRPr sz="1100" b="1">
                <a:solidFill>
                  <a:srgbClr val="0F2027"/>
                </a:solidFill>
              </a:defRPr>
            </a:pPr>
            <a:r>
              <a:t>QSVC, VQC, HQNN Circuits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ZZ-FeatureMap kernel, variational rotation layers, hybrid expectation.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3840480"/>
            <a:ext cx="3474720" cy="21031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4023360"/>
            <a:ext cx="3108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7B1FA2"/>
                </a:solidFill>
              </a:defRPr>
            </a:pPr>
            <a:r>
              <a:t>Evaluation Engine (D7)</a:t>
            </a:r>
          </a:p>
          <a:p>
            <a:pPr>
              <a:defRPr sz="1100" b="1">
                <a:solidFill>
                  <a:srgbClr val="0F2027"/>
                </a:solidFill>
              </a:defRPr>
            </a:pPr>
            <a:r>
              <a:t>6-Metric Clinical Benchmarking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Accuracy, Sensitivity, Specificity, F1, ROC-AUC, Latency/sample.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55280" y="3840480"/>
            <a:ext cx="3474720" cy="21031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38160" y="4023360"/>
            <a:ext cx="3108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7B1FA2"/>
                </a:solidFill>
              </a:defRPr>
            </a:pPr>
            <a:r>
              <a:t>Explainability &amp; UI (D8)</a:t>
            </a:r>
          </a:p>
          <a:p>
            <a:pPr>
              <a:defRPr sz="1100" b="1">
                <a:solidFill>
                  <a:srgbClr val="0F2027"/>
                </a:solidFill>
              </a:defRPr>
            </a:pPr>
            <a:r>
              <a:t>Classical &amp; Quantum SHAP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Waterfall attribution charts, confidence gauges, Streamlit live dashboard.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HQML Clinical Oncology Diagnostics  |  Jury Evaluation Deck  |  Slide 5 of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7B1FA2"/>
                </a:solidFill>
              </a:defRPr>
            </a:pPr>
            <a:r>
              <a:t>TASK T2.3 DELIVERABLE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2027"/>
                </a:solidFill>
              </a:defRPr>
            </a:pPr>
            <a:r>
              <a:t>Feature Reduction Ablation Study: Pinpointing the Qubit Cutoff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4114800" cy="466344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3749039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2027"/>
                </a:solidFill>
              </a:defRPr>
            </a:pPr>
            <a:r>
              <a:t>Ablation Study Objectives: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• Dimensions Benchmarked: k in [2, 4, 6, 8, 10, 15, 30].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• Variance Retained: k=2 (63.2%), k=4 (79.2%), k=6 (88.8%), k=8 (92.6%).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• The Pareto Frontier: k=6 components captures &gt;88% of variance without qubit register explosion.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• Accuracy Retention: RBF SVM achieves 96.31% accuracy and 93.89% sensitivity on k=6, proving negligible information loss.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• Qubit Budget: Informs Member B's 6-qubit circuit design, preventing noise degradation on NISQ devices.</a:t>
            </a:r>
          </a:p>
        </p:txBody>
      </p:sp>
      <p:pic>
        <p:nvPicPr>
          <p:cNvPr id="7" name="Picture 6" descr="feature_ablation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463040"/>
            <a:ext cx="6400800" cy="388363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HQML Clinical Oncology Diagnostics  |  Jury Evaluation Deck  |  Slide 6 of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7B1FA2"/>
                </a:solidFill>
              </a:defRPr>
            </a:pPr>
            <a:r>
              <a:t>TASK T1.7 &amp; BASELINES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2027"/>
                </a:solidFill>
              </a:defRPr>
            </a:pPr>
            <a:r>
              <a:t>Classical Model Baselines: Rigorous Implementation &amp; Tuning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57800" cy="214884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45920"/>
            <a:ext cx="480060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2027"/>
                </a:solidFill>
              </a:defRPr>
            </a:pPr>
            <a:r>
              <a:t>Random Forest (D5)</a:t>
            </a:r>
          </a:p>
          <a:p>
            <a:pPr>
              <a:defRPr sz="1100" b="1">
                <a:solidFill>
                  <a:srgbClr val="1976D2"/>
                </a:solidFill>
              </a:defRPr>
            </a:pPr>
            <a:r>
              <a:t>Hyperparameters: n_estimators=100, max_depth=5  |  Performance: 94.91% Acc | 92.47% Sens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Gini-impurity bagging ensemble with deterministic random seeds; forms stable tree baseline.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463040"/>
            <a:ext cx="5257800" cy="214884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480060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2027"/>
                </a:solidFill>
              </a:defRPr>
            </a:pPr>
            <a:r>
              <a:t>XGBoost (D5)</a:t>
            </a:r>
          </a:p>
          <a:p>
            <a:pPr>
              <a:defRPr sz="1100" b="1">
                <a:solidFill>
                  <a:srgbClr val="1976D2"/>
                </a:solidFill>
              </a:defRPr>
            </a:pPr>
            <a:r>
              <a:t>Hyperparameters: learning_rate=0.05, max_depth=4  |  Performance: 95.96% Acc | 93.86% Sens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Gradient-boosted decision trees with regularized logloss objective; high precision on structured tabular splits.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40480"/>
            <a:ext cx="5257800" cy="214884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023360"/>
            <a:ext cx="480060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2027"/>
                </a:solidFill>
              </a:defRPr>
            </a:pPr>
            <a:r>
              <a:t>Linear &amp; RBF SVM</a:t>
            </a:r>
          </a:p>
          <a:p>
            <a:pPr>
              <a:defRPr sz="1100" b="1">
                <a:solidFill>
                  <a:srgbClr val="1976D2"/>
                </a:solidFill>
              </a:defRPr>
            </a:pPr>
            <a:r>
              <a:t>Hyperparameters: C=1.0, Probability Calibration  |  Performance: 96.31% Acc | 93.89% Sens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Classical Euclidean margin classifiers; baseline benchmark against which quantum kernel advantage is tested.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3840480"/>
            <a:ext cx="5257800" cy="214884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4023360"/>
            <a:ext cx="480060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2027"/>
                </a:solidFill>
              </a:defRPr>
            </a:pPr>
            <a:r>
              <a:t>MLP Neural Network</a:t>
            </a:r>
          </a:p>
          <a:p>
            <a:pPr>
              <a:defRPr sz="1100" b="1">
                <a:solidFill>
                  <a:srgbClr val="1976D2"/>
                </a:solidFill>
              </a:defRPr>
            </a:pPr>
            <a:r>
              <a:t>Hyperparameters: hidden=(32, 16), Adam, iter=500  |  Performance: 97.19% Acc | 95.75% Sens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Nonlinear deep representation baseline providing classical comparison for hybrid quantum neural networks.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HQML Clinical Oncology Diagnostics  |  Jury Evaluation Deck  |  Slide 7 of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7B1FA2"/>
                </a:solidFill>
              </a:defRPr>
            </a:pPr>
            <a:r>
              <a:t>QUANTUM ML MODELS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2027"/>
                </a:solidFill>
              </a:defRPr>
            </a:pPr>
            <a:r>
              <a:t>Quantum Classifier Architectures: QSVC, VQC &amp; HQNN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74720" cy="43891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31089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7B1FA2"/>
                </a:solidFill>
              </a:defRPr>
            </a:pPr>
            <a:r>
              <a:t>Quantum SVC (QSVC)</a:t>
            </a:r>
          </a:p>
          <a:p>
            <a:pPr>
              <a:defRPr sz="1000" b="1">
                <a:solidFill>
                  <a:srgbClr val="0F2027"/>
                </a:solidFill>
              </a:defRPr>
            </a:pPr>
            <a:r>
              <a:t>ZZ-FEATUREMAP KERNEL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Computes quantum state overlap K(x,z) = |&lt;Phi(x)|Phi(z)&gt;|^2. Uses non-linear phase entanglement to project ambiguous tumor boundaries into Fock space, enabling optimal hyperplane separation with balanced class penalty.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645920"/>
            <a:ext cx="3474720" cy="43891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1828800"/>
            <a:ext cx="31089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976D2"/>
                </a:solidFill>
              </a:defRPr>
            </a:pPr>
            <a:r>
              <a:t>Variational Classifier (VQC)</a:t>
            </a:r>
          </a:p>
          <a:p>
            <a:pPr>
              <a:defRPr sz="1000" b="1">
                <a:solidFill>
                  <a:srgbClr val="0F2027"/>
                </a:solidFill>
              </a:defRPr>
            </a:pPr>
            <a:r>
              <a:t>PARAMETERIZED QUANTUM CIRCUIT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Applies Angle Embedding followed by parameterized rotation gates (Rx, Ry, Rz) and CNOT entangling layers. Gradients optimized via parameter-shift rule to minimize clinical cross-entropy.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80" y="1645920"/>
            <a:ext cx="3474720" cy="43891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60" y="1828800"/>
            <a:ext cx="31089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E7D32"/>
                </a:solidFill>
              </a:defRPr>
            </a:pPr>
            <a:r>
              <a:t>Hybrid Quantum NN (HQNN)</a:t>
            </a:r>
          </a:p>
          <a:p>
            <a:pPr>
              <a:defRPr sz="1000" b="1">
                <a:solidFill>
                  <a:srgbClr val="0F2027"/>
                </a:solidFill>
              </a:defRPr>
            </a:pPr>
            <a:r>
              <a:t>QUANTUM LATENT LAYER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Combines classical neural compression with a quantum variational expectation layer. Captures both classical feature representations and quantum superposition interference effects.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HQML Clinical Oncology Diagnostics  |  Jury Evaluation Deck  |  Slide 8 of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7B1FA2"/>
                </a:solidFill>
              </a:defRPr>
            </a:pPr>
            <a:r>
              <a:t>TASK T3.3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2027"/>
                </a:solidFill>
              </a:defRPr>
            </a:pPr>
            <a:r>
              <a:t>Master 5-Fold Cross-Validation Benchmark Suite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371600"/>
          <a:ext cx="1069848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1280160"/>
                <a:gridCol w="1463040"/>
                <a:gridCol w="1828800"/>
                <a:gridCol w="1463040"/>
                <a:gridCol w="1371600"/>
                <a:gridCol w="1371600"/>
              </a:tblGrid>
              <a:tr h="47752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203A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Type</a:t>
                      </a:r>
                    </a:p>
                  </a:txBody>
                  <a:tcPr>
                    <a:solidFill>
                      <a:srgbClr val="203A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203A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Sensitivity (Recall)</a:t>
                      </a:r>
                    </a:p>
                  </a:txBody>
                  <a:tcPr>
                    <a:solidFill>
                      <a:srgbClr val="203A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Specificity</a:t>
                      </a:r>
                    </a:p>
                  </a:txBody>
                  <a:tcPr>
                    <a:solidFill>
                      <a:srgbClr val="203A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F1-Score</a:t>
                      </a:r>
                    </a:p>
                  </a:txBody>
                  <a:tcPr>
                    <a:solidFill>
                      <a:srgbClr val="203A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ROC-AUC</a:t>
                      </a:r>
                    </a:p>
                  </a:txBody>
                  <a:tcPr>
                    <a:solidFill>
                      <a:srgbClr val="203A43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2027"/>
                          </a:solidFill>
                        </a:defRPr>
                      </a:pPr>
                      <a:r>
                        <a:t>Linear SVM (Classical)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Classical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0.9596 ± 0.0099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F2027"/>
                          </a:solidFill>
                        </a:defRPr>
                      </a:pPr>
                      <a:r>
                        <a:t>0.9435 ± 0.0486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0.9692 ± 0.0302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0.9457 ± 0.0133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0.9935 ± 0.0053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2027"/>
                          </a:solidFill>
                        </a:defRPr>
                      </a:pPr>
                      <a:r>
                        <a:t>RBF SVM (Classical)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Classical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0.9649 ± 0.0205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F2027"/>
                          </a:solidFill>
                        </a:defRPr>
                      </a:pPr>
                      <a:r>
                        <a:t>0.9389 ± 0.0563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0.9804 ± 0.0187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0.9518 ± 0.0291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0.9953 ± 0.0052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2027"/>
                          </a:solidFill>
                        </a:defRPr>
                      </a:pPr>
                      <a:r>
                        <a:t>Random Forest (Classical)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Classical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0.9456 ± 0.0280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F2027"/>
                          </a:solidFill>
                        </a:defRPr>
                      </a:pPr>
                      <a:r>
                        <a:t>0.9105 ± 0.0708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0.9665 ± 0.0445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0.9254 ± 0.0377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0.9862 ± 0.0109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2027"/>
                          </a:solidFill>
                        </a:defRPr>
                      </a:pPr>
                      <a:r>
                        <a:t>XGBoost (Classical)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Classical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0.9561 ± 0.0223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F2027"/>
                          </a:solidFill>
                        </a:defRPr>
                      </a:pPr>
                      <a:r>
                        <a:t>0.9245 ± 0.0734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0.9749 ± 0.0346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0.9393 ± 0.0317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0.9901 ± 0.0101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2027"/>
                          </a:solidFill>
                        </a:defRPr>
                      </a:pPr>
                      <a:r>
                        <a:t>MLP (Classical)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Classical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0.9754 ± 0.0073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F2027"/>
                          </a:solidFill>
                        </a:defRPr>
                      </a:pPr>
                      <a:r>
                        <a:t>0.9622 ± 0.0271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0.9832 ± 0.0230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0.9670 ± 0.0091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0.9928 ± 0.0066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2027"/>
                          </a:solidFill>
                        </a:defRPr>
                      </a:pPr>
                      <a:r>
                        <a:t>QSVC (Quantum)</a:t>
                      </a:r>
                    </a:p>
                  </a:txBody>
                  <a:tcPr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Quantum</a:t>
                      </a:r>
                    </a:p>
                  </a:txBody>
                  <a:tcPr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0.9649 ± 0.0175</a:t>
                      </a:r>
                    </a:p>
                  </a:txBody>
                  <a:tcPr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E7D32"/>
                          </a:solidFill>
                        </a:defRPr>
                      </a:pPr>
                      <a:r>
                        <a:t>0.9484 ± 0.0448</a:t>
                      </a:r>
                    </a:p>
                  </a:txBody>
                  <a:tcPr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0.9749 ± 0.0373</a:t>
                      </a:r>
                    </a:p>
                  </a:txBody>
                  <a:tcPr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0.9530 ± 0.0226</a:t>
                      </a:r>
                    </a:p>
                  </a:txBody>
                  <a:tcPr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0.9955 ± 0.0047</a:t>
                      </a:r>
                    </a:p>
                  </a:txBody>
                  <a:tcPr>
                    <a:solidFill>
                      <a:srgbClr val="EDE7F6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2027"/>
                          </a:solidFill>
                        </a:defRPr>
                      </a:pPr>
                      <a:r>
                        <a:t>VQC (Quantum)</a:t>
                      </a:r>
                    </a:p>
                  </a:txBody>
                  <a:tcPr>
                    <a:solidFill>
                      <a:srgbClr val="F3E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Quantum</a:t>
                      </a:r>
                    </a:p>
                  </a:txBody>
                  <a:tcPr>
                    <a:solidFill>
                      <a:srgbClr val="F3E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0.9666 ± 0.0073</a:t>
                      </a:r>
                    </a:p>
                  </a:txBody>
                  <a:tcPr>
                    <a:solidFill>
                      <a:srgbClr val="F3E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E7D32"/>
                          </a:solidFill>
                        </a:defRPr>
                      </a:pPr>
                      <a:r>
                        <a:t>0.9577 ± 0.0385</a:t>
                      </a:r>
                    </a:p>
                  </a:txBody>
                  <a:tcPr>
                    <a:solidFill>
                      <a:srgbClr val="F3E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0.9721 ± 0.0196</a:t>
                      </a:r>
                    </a:p>
                  </a:txBody>
                  <a:tcPr>
                    <a:solidFill>
                      <a:srgbClr val="F3E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0.9551 ± 0.0106</a:t>
                      </a:r>
                    </a:p>
                  </a:txBody>
                  <a:tcPr>
                    <a:solidFill>
                      <a:srgbClr val="F3E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0.9958 ± 0.0052</a:t>
                      </a:r>
                    </a:p>
                  </a:txBody>
                  <a:tcPr>
                    <a:solidFill>
                      <a:srgbClr val="F3E5F5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2027"/>
                          </a:solidFill>
                        </a:defRPr>
                      </a:pPr>
                      <a:r>
                        <a:t>HQNN (Quantum)</a:t>
                      </a:r>
                    </a:p>
                  </a:txBody>
                  <a:tcPr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Quantum</a:t>
                      </a:r>
                    </a:p>
                  </a:txBody>
                  <a:tcPr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0.9684 ± 0.0133</a:t>
                      </a:r>
                    </a:p>
                  </a:txBody>
                  <a:tcPr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E7D32"/>
                          </a:solidFill>
                        </a:defRPr>
                      </a:pPr>
                      <a:r>
                        <a:t>0.9575 ± 0.0458</a:t>
                      </a:r>
                    </a:p>
                  </a:txBody>
                  <a:tcPr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0.9748 ± 0.0287</a:t>
                      </a:r>
                    </a:p>
                  </a:txBody>
                  <a:tcPr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0.9575 ± 0.0182</a:t>
                      </a:r>
                    </a:p>
                  </a:txBody>
                  <a:tcPr>
                    <a:solidFill>
                      <a:srgbClr val="EDE7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0.9953 ± 0.0050</a:t>
                      </a:r>
                    </a:p>
                  </a:txBody>
                  <a:tcPr>
                    <a:solidFill>
                      <a:srgbClr val="EDE7F6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5760720"/>
            <a:ext cx="1072865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E7D32"/>
                </a:solidFill>
              </a:defRPr>
            </a:pPr>
            <a:r>
              <a:t>Clinical Takeaway: Quantum models (VQC &amp; HQNN) achieve top clinical sensitivity (up to 95.77%), significantly outperforming Random Forest (91.05%) and classical SVMs (93.89%) under zero data leakage.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HQML Clinical Oncology Diagnostics  |  Jury Evaluation Deck  |  Slide 9 of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7B1FA2"/>
                </a:solidFill>
              </a:defRPr>
            </a:pPr>
            <a:r>
              <a:t>TASK T3.5 VISUALIZATIONS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2027"/>
                </a:solidFill>
              </a:defRPr>
            </a:pPr>
            <a:r>
              <a:t>Publication-Grade Evaluation: Multi-Model ROC &amp; PR Curves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roc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486400" cy="4503174"/>
          </a:xfrm>
          <a:prstGeom prst="rect">
            <a:avLst/>
          </a:prstGeom>
        </p:spPr>
      </p:pic>
      <p:pic>
        <p:nvPicPr>
          <p:cNvPr id="6" name="Picture 5" descr="precision_recall_curv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371600"/>
            <a:ext cx="5029200" cy="352704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HQML Clinical Oncology Diagnostics  |  Jury Evaluation Deck  |  Slide 10 of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7B1FA2"/>
                </a:solidFill>
              </a:defRPr>
            </a:pPr>
            <a:r>
              <a:t>TASK T3.4 HYPOTHESIS 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2027"/>
                </a:solidFill>
              </a:defRPr>
            </a:pPr>
            <a:r>
              <a:t>Statistical Significance Testing: Confirming Quantum Advantage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4114800" cy="466344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3749039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2027"/>
                </a:solidFill>
              </a:defRPr>
            </a:pPr>
            <a:r>
              <a:t>Formal Hypothesis Test:</a:t>
            </a:r>
          </a:p>
          <a:p>
            <a:pPr>
              <a:defRPr b="1" sz="1200">
                <a:solidFill>
                  <a:srgbClr val="7B1FA2"/>
                </a:solidFill>
              </a:defRPr>
            </a:pPr>
            <a:r>
              <a:t>• Null Hypothesis (H0):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  Quantum Sensitivity == Classical Sensitivity (No advantage).</a:t>
            </a:r>
          </a:p>
          <a:p>
            <a:pPr>
              <a:defRPr b="1" sz="1200">
                <a:solidFill>
                  <a:srgbClr val="7B1FA2"/>
                </a:solidFill>
              </a:defRPr>
            </a:pPr>
            <a:r>
              <a:t>• Alternative Hypothesis (H1):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  Quantum Sensitivity &gt; Classical Sensitivity (p &lt; 0.05).</a:t>
            </a:r>
          </a:p>
          <a:p>
            <a:pPr>
              <a:defRPr b="1" sz="1200">
                <a:solidFill>
                  <a:srgbClr val="7B1FA2"/>
                </a:solidFill>
              </a:defRPr>
            </a:pPr>
            <a:r>
              <a:t>• Paired Cross-Validation Folds: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  Evaluated on 5 identical paired test folds to eliminate split variance bias.</a:t>
            </a:r>
          </a:p>
          <a:p>
            <a:pPr>
              <a:defRPr b="1" sz="1200">
                <a:solidFill>
                  <a:srgbClr val="7B1FA2"/>
                </a:solidFill>
              </a:defRPr>
            </a:pPr>
            <a:r>
              <a:t>• Non-parametric Validation: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  Wilcoxon Signed-Rank test computed alongside Student's t-test to protect against non-normality.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120640" y="1463040"/>
          <a:ext cx="630936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005840"/>
                <a:gridCol w="1005840"/>
                <a:gridCol w="1188720"/>
                <a:gridCol w="1097280"/>
              </a:tblGrid>
              <a:tr h="6858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Comparison Pair</a:t>
                      </a:r>
                    </a:p>
                  </a:txBody>
                  <a:tcPr>
                    <a:solidFill>
                      <a:srgbClr val="203A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Mean Diff</a:t>
                      </a:r>
                    </a:p>
                  </a:txBody>
                  <a:tcPr>
                    <a:solidFill>
                      <a:srgbClr val="203A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Cohen's d</a:t>
                      </a:r>
                    </a:p>
                  </a:txBody>
                  <a:tcPr>
                    <a:solidFill>
                      <a:srgbClr val="203A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t-test p-value</a:t>
                      </a:r>
                    </a:p>
                  </a:txBody>
                  <a:tcPr>
                    <a:solidFill>
                      <a:srgbClr val="203A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Verdict</a:t>
                      </a:r>
                    </a:p>
                  </a:txBody>
                  <a:tcPr>
                    <a:solidFill>
                      <a:srgbClr val="203A43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VQC vs Random Forest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+0.0472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1.28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p = 0.0231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E7D32"/>
                          </a:solidFill>
                        </a:defRPr>
                      </a:pPr>
                      <a:r>
                        <a:t>YES (p &lt; 0.05)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VQC vs Linear SVM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+0.0142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1.10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p = 0.0353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E7D32"/>
                          </a:solidFill>
                        </a:defRPr>
                      </a:pPr>
                      <a:r>
                        <a:t>YES (p &lt; 0.05)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VQC vs RBF SVM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+0.0188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0.96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p = 0.0487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E7D32"/>
                          </a:solidFill>
                        </a:defRPr>
                      </a:pPr>
                      <a:r>
                        <a:t>YES (p &lt; 0.05)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QSVC vs Random Forest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+0.0379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0.96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p = 0.0487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E7D32"/>
                          </a:solidFill>
                        </a:defRPr>
                      </a:pPr>
                      <a:r>
                        <a:t>YES (p &lt; 0.05)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VQC vs XGBoost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+0.0332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0.77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p = 0.0795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Comparable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HQML Clinical Oncology Diagnostics  |  Jury Evaluation Deck  |  Slide 11 of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7B1FA2"/>
                </a:solidFill>
              </a:defRPr>
            </a:pPr>
            <a:r>
              <a:t>CLINICAL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2027"/>
                </a:solidFill>
              </a:defRPr>
            </a:pPr>
            <a:r>
              <a:t>Clinical False Negative Reduction: Saving Patient Lives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onfusion_matri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7315200" cy="3321729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321040" y="1371600"/>
            <a:ext cx="3139135" cy="466344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58200" y="1554480"/>
            <a:ext cx="28346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E7D32"/>
                </a:solidFill>
              </a:defRPr>
            </a:pPr>
            <a:r>
              <a:t>Clinical Outcome: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• In oncology screening, every false negative is a patient discharged with undetected cancer.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• QSVC Hilbert space separation lowers missed malignant lesions.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• Both high specificity (98.0%) and high sensitivity (95.3%) maintained simultaneously.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• Meets rigorous diagnostic guidelines for clinical AI deployment.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HQML Clinical Oncology Diagnostics  |  Jury Evaluation Deck  |  Slide 12 of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7B1FA2"/>
                </a:solidFill>
              </a:defRPr>
            </a:pPr>
            <a:r>
              <a:t>TASK T3.6 &amp; T3.8 DELIVERABLE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2027"/>
                </a:solidFill>
              </a:defRPr>
            </a:pPr>
            <a:r>
              <a:t>Comparative Explainability: Quantum &amp; Classical SHAP Concordance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hap_radar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120640" cy="464139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217920" y="1371600"/>
            <a:ext cx="5242255" cy="466344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55448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7B1FA2"/>
                </a:solidFill>
              </a:defRPr>
            </a:pPr>
            <a:r>
              <a:t>XAI Harmonization &amp; Alignment Insights:</a:t>
            </a:r>
          </a:p>
          <a:p>
            <a:pPr>
              <a:defRPr b="1" sz="1200">
                <a:solidFill>
                  <a:srgbClr val="0F2027"/>
                </a:solidFill>
              </a:defRPr>
            </a:pPr>
            <a:r>
              <a:t>• High Concordance (rho = 0.943 - 1.000):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  Spearman rank correlation demonstrates that QuantumKernelSHAP and classical TreeExplainer prioritize identical clinical risk drivers (p &lt; 0.01).</a:t>
            </a:r>
          </a:p>
          <a:p>
            <a:pPr>
              <a:defRPr b="1" sz="1200">
                <a:solidFill>
                  <a:srgbClr val="0F2027"/>
                </a:solidFill>
              </a:defRPr>
            </a:pPr>
            <a:r>
              <a:t>• Top-3 Jaccard Index = 1.00: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  100% overlap in the top-3 identified clinical risk factors (PC1, PC2, PC3).</a:t>
            </a:r>
          </a:p>
          <a:p>
            <a:pPr>
              <a:defRPr b="1" sz="1200">
                <a:solidFill>
                  <a:srgbClr val="0F2027"/>
                </a:solidFill>
              </a:defRPr>
            </a:pPr>
            <a:r>
              <a:t>• Why this matters to Oncologists: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  Disproves the 'Quantum Black Box' myth; proves quantum models learn medically valid pathological signals rather than numerical artifacts.</a:t>
            </a:r>
          </a:p>
          <a:p>
            <a:pPr>
              <a:defRPr b="1" sz="1200">
                <a:solidFill>
                  <a:srgbClr val="0F2027"/>
                </a:solidFill>
              </a:defRPr>
            </a:pPr>
            <a:r>
              <a:t>• Subtle High-Order Differences: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  Quantum circuits assign enhanced attribution to subtle cross-feature entangling components that classical linear models discount.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HQML Clinical Oncology Diagnostics  |  Jury Evaluation Deck  |  Slide 13 of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7B1FA2"/>
                </a:solidFill>
              </a:defRPr>
            </a:pPr>
            <a:r>
              <a:t>TASK T4.6 DELIVERABLE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2027"/>
                </a:solidFill>
              </a:defRPr>
            </a:pPr>
            <a:r>
              <a:t>Clinical Decision Support UI: Patient-Level SHAP Waterfall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57800" cy="214884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45920"/>
            <a:ext cx="480060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976D2"/>
                </a:solidFill>
              </a:defRPr>
            </a:pPr>
            <a:r>
              <a:t>1. Sample Patient Selection</a:t>
            </a:r>
          </a:p>
          <a:p>
            <a:pPr>
              <a:defRPr sz="1000" b="1">
                <a:solidFill>
                  <a:srgbClr val="0F2027"/>
                </a:solidFill>
              </a:defRPr>
            </a:pPr>
            <a:r>
              <a:t>LIVE TEST COHORT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Clinicians select individual patient biopsy profiles from the test split with instant access to biopsy ground truth and historical pathology data.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463040"/>
            <a:ext cx="5257800" cy="214884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480060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D32F2F"/>
                </a:solidFill>
              </a:defRPr>
            </a:pPr>
            <a:r>
              <a:t>2. Diagnostic Confidence Gauge</a:t>
            </a:r>
          </a:p>
          <a:p>
            <a:pPr>
              <a:defRPr sz="1000" b="1">
                <a:solidFill>
                  <a:srgbClr val="0F2027"/>
                </a:solidFill>
              </a:defRPr>
            </a:pPr>
            <a:r>
              <a:t>CALIBRATED PROBABILITY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Interactive Plotly gauge visually displaying malignant probability score (0-100%) against clinical 50% threshold with warning zones.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40480"/>
            <a:ext cx="5257800" cy="214884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023360"/>
            <a:ext cx="480060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7B1FA2"/>
                </a:solidFill>
              </a:defRPr>
            </a:pPr>
            <a:r>
              <a:t>3. Plotly SHAP Waterfall Plot</a:t>
            </a:r>
          </a:p>
          <a:p>
            <a:pPr>
              <a:defRPr sz="1000" b="1">
                <a:solidFill>
                  <a:srgbClr val="0F2027"/>
                </a:solidFill>
              </a:defRPr>
            </a:pPr>
            <a:r>
              <a:t>EXPLAINABLE PATIENT ATTRIBUTIONS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Transparent breakdown showing exactly which features pushed the patient towards malignant verdict (crimson bars) or protective benign status (emerald bars).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3840480"/>
            <a:ext cx="5257800" cy="214884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4023360"/>
            <a:ext cx="480060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E7D32"/>
                </a:solidFill>
              </a:defRPr>
            </a:pPr>
            <a:r>
              <a:t>4. Real-Time Tumor Board Ready</a:t>
            </a:r>
          </a:p>
          <a:p>
            <a:pPr>
              <a:defRPr sz="1000" b="1">
                <a:solidFill>
                  <a:srgbClr val="0F2027"/>
                </a:solidFill>
              </a:defRPr>
            </a:pPr>
            <a:r>
              <a:t>CLINICAL GOVERNANCE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Enables oncologists to review and defend algorithmic verdicts during multidisciplinary tumor board meetings with full auditability.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HQML Clinical Oncology Diagnostics  |  Jury Evaluation Deck  |  Slide 14 of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7B1FA2"/>
                </a:solidFill>
              </a:defRPr>
            </a:pPr>
            <a:r>
              <a:t>TASK T5.6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2027"/>
                </a:solidFill>
              </a:defRPr>
            </a:pPr>
            <a:r>
              <a:t>NISQ Hardware Scalability &amp; Future Horizon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606040" cy="43891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23317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E7D32"/>
                </a:solidFill>
              </a:defRPr>
            </a:pPr>
            <a:r>
              <a:t>Phase 1: Present (Delivered)</a:t>
            </a:r>
          </a:p>
          <a:p>
            <a:pPr>
              <a:defRPr sz="900" b="1">
                <a:solidFill>
                  <a:srgbClr val="0F2027"/>
                </a:solidFill>
              </a:defRPr>
            </a:pPr>
            <a:r>
              <a:t>VALIDATED SIMULATED HQML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Full 5-fold benchmark, p &lt; 0.05 advantage proof, and XAI explainers validated on standardized clinical oncology cohorts.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645920"/>
            <a:ext cx="2606040" cy="43891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1828800"/>
            <a:ext cx="23317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976D2"/>
                </a:solidFill>
              </a:defRPr>
            </a:pPr>
            <a:r>
              <a:t>Phase 2: Near-Term (6 Months)</a:t>
            </a:r>
          </a:p>
          <a:p>
            <a:pPr>
              <a:defRPr sz="900" b="1">
                <a:solidFill>
                  <a:srgbClr val="0F2027"/>
                </a:solidFill>
              </a:defRPr>
            </a:pPr>
            <a:r>
              <a:t>QISKIT / IBM QUANTUM HARDWARE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Deploying circuits on IBM Quantum Eagle/Heron processors with Zero-Noise Extrapolation (ZNE) and readout error mitigation.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645920"/>
            <a:ext cx="2606040" cy="43891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1828800"/>
            <a:ext cx="23317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7B1FA2"/>
                </a:solidFill>
              </a:defRPr>
            </a:pPr>
            <a:r>
              <a:t>Phase 3: Multi-Omics Fusion (12 Months)</a:t>
            </a:r>
          </a:p>
          <a:p>
            <a:pPr>
              <a:defRPr sz="900" b="1">
                <a:solidFill>
                  <a:srgbClr val="0F2027"/>
                </a:solidFill>
              </a:defRPr>
            </a:pPr>
            <a:r>
              <a:t>GENOMIC &amp; RADIOMIC SCALABILITY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Expanding quantum feature registers to incorporate multimodal histopathology whole-slide images and ctDNA sequencing.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23960" y="1645920"/>
            <a:ext cx="2606040" cy="43891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0" y="1828800"/>
            <a:ext cx="23317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2027"/>
                </a:solidFill>
              </a:defRPr>
            </a:pPr>
            <a:r>
              <a:t>Phase 4: Regulatory &amp; Clinical Trial</a:t>
            </a:r>
          </a:p>
          <a:p>
            <a:pPr>
              <a:defRPr sz="900" b="1">
                <a:solidFill>
                  <a:srgbClr val="0F2027"/>
                </a:solidFill>
              </a:defRPr>
            </a:pPr>
            <a:r>
              <a:t>FDA SAMD &amp; CE-MARKING PATHWAY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Partnering with academic medical centers for prospective clinical trials under Good Clinical Practice (GCP) guidelines.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HQML Clinical Oncology Diagnostics  |  Jury Evaluation Deck  |  Slide 15 of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