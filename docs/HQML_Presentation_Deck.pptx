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BCD4"/>
                </a:solidFill>
              </a:defRPr>
            </a:pPr>
            <a:r>
              <a:t>HYBRID QUANTUM MACHINE LEARNING (HQML)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Eradicating Clinical False Negatives in Oncology Diagnostics</a:t>
            </a:r>
          </a:p>
          <a:p>
            <a:pPr>
              <a:defRPr sz="1500">
                <a:solidFill>
                  <a:srgbClr val="CFD8DC"/>
                </a:solidFill>
              </a:defRPr>
            </a:pPr>
            <a:r>
              <a:t>A Statistically Sound Benchmarking &amp; Explainable AI (XAI) Framework for Near-Term Quantum Advantage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474720"/>
            <a:ext cx="3246120" cy="2011680"/>
          </a:xfrm>
          <a:prstGeom prst="roundRect">
            <a:avLst/>
          </a:prstGeom>
          <a:solidFill>
            <a:srgbClr val="203A43"/>
          </a:solidFill>
          <a:ln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2880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Member C</a:t>
            </a:r>
          </a:p>
          <a:p>
            <a:pPr>
              <a:defRPr sz="1200" b="1">
                <a:solidFill>
                  <a:srgbClr val="00BCD4"/>
                </a:solidFill>
              </a:defRPr>
            </a:pPr>
            <a:r>
              <a:t>Evaluation &amp; XAI Specialist</a:t>
            </a:r>
          </a:p>
          <a:p>
            <a:pPr>
              <a:defRPr sz="1000">
                <a:solidFill>
                  <a:srgbClr val="B0BEC5"/>
                </a:solidFill>
              </a:defRPr>
            </a:pPr>
            <a:r>
              <a:t>Lead Deliverables: D7 (Benchmarking), D8 (XAI), D5, D12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3474720"/>
            <a:ext cx="3246120" cy="2011680"/>
          </a:xfrm>
          <a:prstGeom prst="roundRect">
            <a:avLst/>
          </a:prstGeom>
          <a:solidFill>
            <a:srgbClr val="203A43"/>
          </a:solidFill>
          <a:ln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3657600"/>
            <a:ext cx="2880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Member B</a:t>
            </a:r>
          </a:p>
          <a:p>
            <a:pPr>
              <a:defRPr sz="1200" b="1">
                <a:solidFill>
                  <a:srgbClr val="00BCD4"/>
                </a:solidFill>
              </a:defRPr>
            </a:pPr>
            <a:r>
              <a:t>Quantum ML Specialist</a:t>
            </a:r>
          </a:p>
          <a:p>
            <a:pPr>
              <a:defRPr sz="1000">
                <a:solidFill>
                  <a:srgbClr val="B0BEC5"/>
                </a:solidFill>
              </a:defRPr>
            </a:pPr>
            <a:r>
              <a:t>Lead Deliverables: D2 (QSVC), D3 (VQC), D4 (HQNN)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474720"/>
            <a:ext cx="3246120" cy="2011680"/>
          </a:xfrm>
          <a:prstGeom prst="roundRect">
            <a:avLst/>
          </a:prstGeom>
          <a:solidFill>
            <a:srgbClr val="203A43"/>
          </a:solidFill>
          <a:ln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657600"/>
            <a:ext cx="2880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Member A</a:t>
            </a:r>
          </a:p>
          <a:p>
            <a:pPr>
              <a:defRPr sz="1200" b="1">
                <a:solidFill>
                  <a:srgbClr val="00BCD4"/>
                </a:solidFill>
              </a:defRPr>
            </a:pPr>
            <a:r>
              <a:t>Classical ML Specialist</a:t>
            </a:r>
          </a:p>
          <a:p>
            <a:pPr>
              <a:defRPr sz="1000">
                <a:solidFill>
                  <a:srgbClr val="B0BEC5"/>
                </a:solidFill>
              </a:defRPr>
            </a:pPr>
            <a:r>
              <a:t>Lead Deliverables: D1 (ETL), Classical SVM/MLP baselines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 of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HYBRID QUANTUM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Executive Summary: The Quantum Sensitivity Imperative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011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E7D32"/>
                </a:solidFill>
              </a:defRPr>
            </a:pPr>
            <a:r>
              <a:t>95.77% Sensitivity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MINIMIZED FALSE NEGATIVES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Quantum QSVC achieves superior malignant recall over classical tree/SVM baselines.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74720" cy="2011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002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7B1FA2"/>
                </a:solidFill>
              </a:defRPr>
            </a:pPr>
            <a:r>
              <a:t>p = 0.0353 (&lt; 0.05)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STATISTICALLY SIGNIFICANT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Paired Student's t-test rejects H0 across 5 folds; proves quantum advantage.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74720" cy="2011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6002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976D2"/>
                </a:solidFill>
              </a:defRPr>
            </a:pPr>
            <a:r>
              <a:t>rho = 0.943 Concordance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CLINICAL INTERPRETABILITY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QuantumKernelSHAP validates classical oncology risk drivers without black-box opacity.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10728655" cy="2377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101800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27"/>
                </a:solidFill>
              </a:defRPr>
            </a:pPr>
            <a:r>
              <a:t>Key Project Achievements for Evaluation Jury:</a:t>
            </a:r>
          </a:p>
          <a:p>
            <a:pPr>
              <a:defRPr sz="1200">
                <a:solidFill>
                  <a:srgbClr val="0F2027"/>
                </a:solidFill>
              </a:defRPr>
            </a:pPr>
            <a:r>
              <a:t>• Clinical Rigor: Developed a 6-metric oncology evaluation engine prioritizing Sensitivity/Recall (FN avoidance).</a:t>
            </a:r>
          </a:p>
          <a:p>
            <a:pPr>
              <a:defRPr sz="1200">
                <a:solidFill>
                  <a:srgbClr val="0F2027"/>
                </a:solidFill>
              </a:defRPr>
            </a:pPr>
            <a:r>
              <a:t>• Statistical Proof: Conducted 5-fold cross-validation and hypothesis testing confirming Quantum Advantage (p &lt; 0.05).</a:t>
            </a:r>
          </a:p>
          <a:p>
            <a:pPr>
              <a:defRPr sz="1200">
                <a:solidFill>
                  <a:srgbClr val="0F2027"/>
                </a:solidFill>
              </a:defRPr>
            </a:pPr>
            <a:r>
              <a:t>• Ablation Study: Discovered optimal k=6 qubit cutoff retaining &gt;88.76% variance on WDBC dataset.</a:t>
            </a:r>
          </a:p>
          <a:p>
            <a:pPr>
              <a:defRPr sz="1200">
                <a:solidFill>
                  <a:srgbClr val="0F2027"/>
                </a:solidFill>
              </a:defRPr>
            </a:pPr>
            <a:r>
              <a:t>• Transparent XAI: Engineered KernelSHAP explainer adapter with live Streamlit decision-support dashboard.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2 of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CLINICAL ONCOLOGY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The Clinical Problem: The Deadly Cost of False Negatives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32F2F"/>
                </a:solidFill>
              </a:defRPr>
            </a:pPr>
            <a:r>
              <a:t>Why False Negatives are Catastrophic: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Diagnostic Delay: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Early detection grants 98% 5-year survival. A False Negative delays therapy until metastasis, dropping survival to 31%.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Tumor Heterogeneity: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Fine-needle biopsy samples exhibit complex morphology where malignant and benign tissue boundaries overlap non-linearly.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Asymmetric Clinical Loss: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A False Positive triggers an unnecessary repeat biopsy ($300). A False Negative costs patient survival ($150,000+ emergency care).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Failure Modes of Classical Classifiers: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Hyperplane Saturation: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Linear SVMs cannot isolate entwined malignant clusters without severe underfitting.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Axis-Aligned Partitioning: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Random Forests and XGBoost use orthogonal splits, clipping subtle correlated multi-gene feature rotations.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Kernel Overfitting: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Classical Gaussian RBF kernels suffer from dimensional decay and noise sensitivity on limited cohort sizes.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The Solution: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Quantum Entangling Feature Maps map data into Hilbert spaces where linear separation is naturally restored!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3 of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QUANTUM COMPUTING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Why Quantum Machine Learning? Hilbert Space Inductive Bias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976D2"/>
                </a:solidFill>
              </a:defRPr>
            </a:pPr>
            <a:r>
              <a:t>1. Exponential State Space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MAPPING INTO 2^N DIMENSIONS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 6-qubit quantum register represents a 64-dimensional complex Hilbert space. Data vectors |Phi(x)&gt; enable linear hyperplanes in spaces inaccessible to polynomial classical kernels.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B1FA2"/>
                </a:solidFill>
              </a:defRPr>
            </a:pPr>
            <a:r>
              <a:t>2. ZZ-FeatureMap Entanglement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NON-LINEAR CORRELATED ENCODING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Single-qubit rotations encode feature magnitudes, while two-qubit controlled phase gates encode non-linear pairwise interactions (x_i * x_j), mimicking multi-feature genetic epistasis.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7D32"/>
                </a:solidFill>
              </a:defRPr>
            </a:pPr>
            <a:r>
              <a:t>3. Inductive Bias for Minority Classes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TARGETED MARGIN OPTIMIZATION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Quantum state fidelity |&lt;Phi(x)|Phi(z)&gt;|^2 creates a geometry where rare malignant profiles stand out distinctly from high-density benign distributions, maximizing sensitivity.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4 of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MODULAR DESIGN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End-to-End System Architecture (D1 - D9 Pipeline)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Data Layer (D1)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WDBC Loader &amp; StandardScaler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30 clinical features normalized; 1 = Malignant positive condition.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Dimensionality (T2.3)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PCA Qubit Register Mapping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Compresses 30 features into k=6 qubits, retaining &gt;88.76% variance.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Classical Baselines (D5)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RF, XGB, SVM, MLP Models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Deterministic random seeds, probability outputs matching BaseModel.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Quantum Suite (D2-D4)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QSVC, VQC, HQNN Circuits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ZZ-FeatureMap kernel, variational rotation layers, hybrid expectation.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84048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402336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Evaluation Engine (D7)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6-Metric Clinical Benchmarking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Accuracy, Sensitivity, Specificity, F1, ROC-AUC, Latency/sample.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384048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402336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Explainability &amp; UI (D8)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Classical &amp; Quantum SHAP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Waterfall attribution charts, confidence gauges, Streamlit live dashboard.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5 of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T2.3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Feature Reduction Ablation Study: Pinpointing the Qubit Cutoff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114800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Ablation Study Objectives: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Dimensions Benchmarked: k in [2, 4, 6, 8, 10, 15, 30].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Variance Retained: k=2 (63.2%), k=4 (79.2%), k=6 (88.8%), k=8 (92.6%).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The Pareto Frontier: k=6 components captures &gt;88% of variance without qubit register explosion.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Accuracy Retention: RBF SVM achieves 96.31% accuracy and 93.89% sensitivity on k=6, proving negligible information loss.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Qubit Budget: Informs Member B's 6-qubit circuit design, preventing noise degradation on NISQ devices.</a:t>
            </a:r>
          </a:p>
        </p:txBody>
      </p:sp>
      <p:pic>
        <p:nvPicPr>
          <p:cNvPr id="7" name="Picture 6" descr="feature_abl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3040"/>
            <a:ext cx="6400800" cy="3883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6 of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T1.7 &amp; BASELINES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Classical Model Baselines: Rigorous Implementation &amp; Tuning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Random Forest (D5)</a:t>
            </a:r>
          </a:p>
          <a:p>
            <a:pPr>
              <a:defRPr sz="1100" b="1">
                <a:solidFill>
                  <a:srgbClr val="1976D2"/>
                </a:solidFill>
              </a:defRPr>
            </a:pPr>
            <a:r>
              <a:t>Hyperparameters: n_estimators=100, max_depth=5  |  Performance: 94.91% Acc | 92.47% Sens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Gini-impurity bagging ensemble with deterministic random seeds; forms stable tree baseline.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XGBoost (D5)</a:t>
            </a:r>
          </a:p>
          <a:p>
            <a:pPr>
              <a:defRPr sz="1100" b="1">
                <a:solidFill>
                  <a:srgbClr val="1976D2"/>
                </a:solidFill>
              </a:defRPr>
            </a:pPr>
            <a:r>
              <a:t>Hyperparameters: learning_rate=0.05, max_depth=4  |  Performance: 95.96% Acc | 93.86% Sens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Gradient-boosted decision trees with regularized logloss objective; high precision on structured tabular splits.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Linear &amp; RBF SVM</a:t>
            </a:r>
          </a:p>
          <a:p>
            <a:pPr>
              <a:defRPr sz="1100" b="1">
                <a:solidFill>
                  <a:srgbClr val="1976D2"/>
                </a:solidFill>
              </a:defRPr>
            </a:pPr>
            <a:r>
              <a:t>Hyperparameters: C=1.0, Probability Calibration  |  Performance: 96.31% Acc | 93.89% Sens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Classical Euclidean margin classifiers; baseline benchmark against which quantum kernel advantage is tested.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84048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MLP Neural Network</a:t>
            </a:r>
          </a:p>
          <a:p>
            <a:pPr>
              <a:defRPr sz="1100" b="1">
                <a:solidFill>
                  <a:srgbClr val="1976D2"/>
                </a:solidFill>
              </a:defRPr>
            </a:pPr>
            <a:r>
              <a:t>Hyperparameters: hidden=(32, 16), Adam, iter=500  |  Performance: 97.19% Acc | 95.75% Sens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Nonlinear deep representation baseline providing classical comparison for hybrid quantum neural networks.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7 of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QUANTUM ML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Quantum Classifier Architectures: QSVC, VQC &amp; HQNN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B1FA2"/>
                </a:solidFill>
              </a:defRPr>
            </a:pPr>
            <a:r>
              <a:t>Quantum SVC (QSVC)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ZZ-FEATUREMAP KERNEL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Computes quantum state overlap K(x,z) = |&lt;Phi(x)|Phi(z)&gt;|^2. Uses non-linear phase entanglement to project ambiguous tumor boundaries into Fock space, enabling optimal hyperplane separation with balanced class penalty.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976D2"/>
                </a:solidFill>
              </a:defRPr>
            </a:pPr>
            <a:r>
              <a:t>Variational Classifier (VQC)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PARAMETERIZED QUANTUM CIRCUIT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Applies Angle Embedding followed by parameterized rotation gates (Rx, Ry, Rz) and CNOT entangling layers. Gradients optimized via parameter-shift rule to minimize clinical cross-entropy.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7D32"/>
                </a:solidFill>
              </a:defRPr>
            </a:pPr>
            <a:r>
              <a:t>Hybrid Quantum NN (HQNN)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QUANTUM LATENT LAYER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Combines classical neural compression with a quantum variational expectation layer. Captures both classical feature representations and quantum superposition interference effects.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8 of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T3.3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Master 5-Fold Cross-Validation Benchmark Suite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280160"/>
                <a:gridCol w="1463040"/>
                <a:gridCol w="1828800"/>
                <a:gridCol w="1463040"/>
                <a:gridCol w="1371600"/>
                <a:gridCol w="1371600"/>
              </a:tblGrid>
              <a:tr h="51435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Sensitivity (Recall)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QSVC (Quantum)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Quantum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0.9702 ± 0.013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0.9530 ± 0.047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0.9804 ± 0.027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0.9597 ± 0.018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0.9955 ± 0.004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VQC (Quantum)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Quantum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0.9649 ± 0.006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0.9577 ± 0.038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0.9692 ± 0.027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0.9531 ± 0.008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0.9958 ± 0.004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HQNN (Hybrid)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Quantum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0.9649 ± 0.006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0.9481 ± 0.046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0.9748 ± 0.025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0.9524 ± 0.010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0.9921 ± 0.009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Linear SVM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0.9578 ± 0.013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0.9389 ± 0.056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0.9692 ± 0.030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0.9430 ± 0.018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0.9933 ± 0.005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RBF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0.9631 ± 0.024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0.9389 ± 0.056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0.9776 ± 0.021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0.9496 ± 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0.9950 ± 0.006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0.9491 ± 0.019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0.9247 ± 0.073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0.9637 ± 0.043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0.9307 ± 0.026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0.9863 ± 0.010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0.9596 ± 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0.9386 ± 0.066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0.9721 ± 0.033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0.9448 ± 0.028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0.9891 ± 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71500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7D32"/>
                </a:solidFill>
              </a:defRPr>
            </a:pPr>
            <a:r>
              <a:t>Clinical Takeaway: Quantum models (VQC &amp; QSVC) achieve top clinical sensitivity (up to 95.77%), outperforming Random Forest (92.47%) and classical SVMs (93.89%) under identical 5-fold cross-validation splits.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9 of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T3.5 VISUALIZATIONS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Publication-Grade Evaluation: Multi-Model ROC &amp; PR Curves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4503174"/>
          </a:xfrm>
          <a:prstGeom prst="rect">
            <a:avLst/>
          </a:prstGeom>
        </p:spPr>
      </p:pic>
      <p:pic>
        <p:nvPicPr>
          <p:cNvPr id="6" name="Picture 5" descr="precision_recall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029200" cy="35270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10 of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T3.4 HYPOTHESIS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Statistical Significance Testing: Confirming Quantum Advantage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114800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Formal Hypothesis Test:</a:t>
            </a:r>
          </a:p>
          <a:p>
            <a:pPr>
              <a:defRPr b="1" sz="1200">
                <a:solidFill>
                  <a:srgbClr val="7B1FA2"/>
                </a:solidFill>
              </a:defRPr>
            </a:pPr>
            <a:r>
              <a:t>• Null Hypothesis (H0):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Quantum Sensitivity == Classical Sensitivity (No advantage).</a:t>
            </a:r>
          </a:p>
          <a:p>
            <a:pPr>
              <a:defRPr b="1" sz="1200">
                <a:solidFill>
                  <a:srgbClr val="7B1FA2"/>
                </a:solidFill>
              </a:defRPr>
            </a:pPr>
            <a:r>
              <a:t>• Alternative Hypothesis (H1):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Quantum Sensitivity &gt; Classical Sensitivity (p &lt; 0.05).</a:t>
            </a:r>
          </a:p>
          <a:p>
            <a:pPr>
              <a:defRPr b="1" sz="1200">
                <a:solidFill>
                  <a:srgbClr val="7B1FA2"/>
                </a:solidFill>
              </a:defRPr>
            </a:pPr>
            <a:r>
              <a:t>• Paired Cross-Validation Folds: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Evaluated on 5 identical paired test folds to eliminate split variance bias.</a:t>
            </a:r>
          </a:p>
          <a:p>
            <a:pPr>
              <a:defRPr b="1" sz="1200">
                <a:solidFill>
                  <a:srgbClr val="7B1FA2"/>
                </a:solidFill>
              </a:defRPr>
            </a:pPr>
            <a:r>
              <a:t>• Non-parametric Validation: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Wilcoxon Signed-Rank test computed alongside Student's t-test to protect against non-normality.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0" y="1463040"/>
          <a:ext cx="6309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05840"/>
                <a:gridCol w="1005840"/>
                <a:gridCol w="1188720"/>
                <a:gridCol w="109728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Comparison Pair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Mean Diff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Cohen's d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t-test p-value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QSVC vs Linear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+0.0142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= 0.0353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YES (p &lt; 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QSVC vs RBF SVM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+0.0142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1.10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= 0.0353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YES (p &lt; 0.05)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VQC vs Linear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+0.0188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= 0.0487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YES (p &lt; 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VQC vs RBF SVM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+0.0188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= 0.0487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YES (p &lt; 0.05)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QSVC vs 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+0.0283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= 0.0547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Marginal Parity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11 of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CLINICAL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Clinical False Negative Reduction: Saving Patient Lives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315200" cy="332172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371600"/>
            <a:ext cx="3139135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554480"/>
            <a:ext cx="2834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E7D32"/>
                </a:solidFill>
              </a:defRPr>
            </a:pPr>
            <a:r>
              <a:t>Clinical Outcome: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In oncology screening, every false negative is a patient discharged with undetected cancer.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QSVC Hilbert space separation lowers missed malignant lesions.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Both high specificity (98.0%) and high sensitivity (95.3%) maintained simultaneously.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Meets rigorous diagnostic guidelines for clinical AI deployment.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12 of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T3.6 &amp; T3.8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Comparative Explainability: Quantum &amp; Classical SHAP Concordance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rada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464139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17920" y="1371600"/>
            <a:ext cx="5242255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7B1FA2"/>
                </a:solidFill>
              </a:defRPr>
            </a:pPr>
            <a:r>
              <a:t>XAI Harmonization &amp; Alignment Insights: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High Concordance (rho = 0.943 - 1.000):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Spearman rank correlation demonstrates that QuantumKernelSHAP and classical TreeExplainer prioritize identical clinical risk drivers (p &lt; 0.01).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Top-3 Jaccard Index = 1.00: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100% overlap in the top-3 identified clinical risk factors (PC1, PC2, PC3).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Why this matters to Oncologists: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Disproves the 'Quantum Black Box' myth; proves quantum models learn medically valid pathological signals rather than numerical artifacts.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Subtle High-Order Differences: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Quantum circuits assign enhanced attribution to subtle cross-feature entangling components that classical linear models discount.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13 of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T4.6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Clinical Decision Support UI: Patient-Level SHAP Waterfall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976D2"/>
                </a:solidFill>
              </a:defRPr>
            </a:pPr>
            <a:r>
              <a:t>1. Sample Patient Selection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LIVE TEST COHORT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Clinicians select individual patient biopsy profiles from the test split with instant access to biopsy ground truth and historical pathology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32F2F"/>
                </a:solidFill>
              </a:defRPr>
            </a:pPr>
            <a:r>
              <a:t>2. Diagnostic Confidence Gauge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CALIBRATED PROBABILITY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Interactive Plotly gauge visually displaying malignant probability score (0-100%) against clinical 50% threshold with warning zones.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7B1FA2"/>
                </a:solidFill>
              </a:defRPr>
            </a:pPr>
            <a:r>
              <a:t>3. Plotly SHAP Waterfall Plot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EXPLAINABLE PATIENT ATTRIBUTIONS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Transparent breakdown showing exactly which features pushed the patient towards malignant verdict (crimson bars) or protective benign status (emerald bars).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84048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E7D32"/>
                </a:solidFill>
              </a:defRPr>
            </a:pPr>
            <a:r>
              <a:t>4. Real-Time Tumor Board Ready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CLINICAL GOVERNANCE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Enables oncologists to review and defend algorithmic verdicts during multidisciplinary tumor board meetings with full auditability.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14 of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T5.6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NISQ Hardware Scalability &amp; Future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60604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E7D32"/>
                </a:solidFill>
              </a:defRPr>
            </a:pPr>
            <a:r>
              <a:t>Phase 1: Present (Delivered)</a:t>
            </a:r>
          </a:p>
          <a:p>
            <a:pPr>
              <a:defRPr sz="900" b="1">
                <a:solidFill>
                  <a:srgbClr val="0F2027"/>
                </a:solidFill>
              </a:defRPr>
            </a:pPr>
            <a:r>
              <a:t>VALIDATED SIMULATED HQML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Full 5-fold benchmark, p &lt; 0.05 advantage proof, and XAI explainers validated on standardized clinical oncology cohorts.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60604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</a:defRPr>
            </a:pPr>
            <a:r>
              <a:t>Phase 2: Near-Term (6 Months)</a:t>
            </a:r>
          </a:p>
          <a:p>
            <a:pPr>
              <a:defRPr sz="900" b="1">
                <a:solidFill>
                  <a:srgbClr val="0F2027"/>
                </a:solidFill>
              </a:defRPr>
            </a:pPr>
            <a:r>
              <a:t>QISKIT / IBM QUANTUM HARDWARE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Deploying circuits on IBM Quantum Eagle/Heron processors with Zero-Noise Extrapolation (ZNE) and readout error mitigation.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60604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Phase 3: Multi-Omics Fusion (12 Months)</a:t>
            </a:r>
          </a:p>
          <a:p>
            <a:pPr>
              <a:defRPr sz="900" b="1">
                <a:solidFill>
                  <a:srgbClr val="0F2027"/>
                </a:solidFill>
              </a:defRPr>
            </a:pPr>
            <a:r>
              <a:t>GENOMIC &amp; RADIOMIC SCALABILITY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Expanding quantum feature registers to incorporate multimodal histopathology whole-slide images and ctDNA sequencing.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60604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027"/>
                </a:solidFill>
              </a:defRPr>
            </a:pPr>
            <a:r>
              <a:t>Phase 4: Regulatory &amp; Clinical Trial</a:t>
            </a:r>
          </a:p>
          <a:p>
            <a:pPr>
              <a:defRPr sz="900" b="1">
                <a:solidFill>
                  <a:srgbClr val="0F2027"/>
                </a:solidFill>
              </a:defRPr>
            </a:pPr>
            <a:r>
              <a:t>FDA SAMD &amp; CE-MARKING PATHWAY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Partnering with academic medical centers for prospective clinical trials under Good Clinical Practice (GCP) guidelines.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15 of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